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6" r:id="rId3"/>
    <p:sldId id="277" r:id="rId4"/>
    <p:sldId id="278" r:id="rId5"/>
    <p:sldId id="258" r:id="rId6"/>
    <p:sldId id="259" r:id="rId7"/>
    <p:sldId id="260" r:id="rId8"/>
    <p:sldId id="262" r:id="rId9"/>
    <p:sldId id="263" r:id="rId10"/>
    <p:sldId id="272" r:id="rId11"/>
    <p:sldId id="273" r:id="rId12"/>
    <p:sldId id="268" r:id="rId13"/>
    <p:sldId id="269"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691"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1" i="0">
                <a:solidFill>
                  <a:schemeClr val="bg1"/>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6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6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7998"/>
          </a:xfrm>
          <a:prstGeom prst="rect">
            <a:avLst/>
          </a:prstGeom>
        </p:spPr>
      </p:pic>
      <p:pic>
        <p:nvPicPr>
          <p:cNvPr id="17" name="bg object 17"/>
          <p:cNvPicPr/>
          <p:nvPr/>
        </p:nvPicPr>
        <p:blipFill>
          <a:blip r:embed="rId8" cstate="print"/>
          <a:stretch>
            <a:fillRect/>
          </a:stretch>
        </p:blipFill>
        <p:spPr>
          <a:xfrm>
            <a:off x="22302" y="1879"/>
            <a:ext cx="6725920" cy="831621"/>
          </a:xfrm>
          <a:prstGeom prst="rect">
            <a:avLst/>
          </a:prstGeom>
        </p:spPr>
      </p:pic>
      <p:sp>
        <p:nvSpPr>
          <p:cNvPr id="2" name="Holder 2"/>
          <p:cNvSpPr>
            <a:spLocks noGrp="1"/>
          </p:cNvSpPr>
          <p:nvPr>
            <p:ph type="title"/>
          </p:nvPr>
        </p:nvSpPr>
        <p:spPr>
          <a:xfrm>
            <a:off x="1008684" y="33273"/>
            <a:ext cx="3712210" cy="666115"/>
          </a:xfrm>
          <a:prstGeom prst="rect">
            <a:avLst/>
          </a:prstGeom>
        </p:spPr>
        <p:txBody>
          <a:bodyPr wrap="square" lIns="0" tIns="0" rIns="0" bIns="0">
            <a:spAutoFit/>
          </a:bodyPr>
          <a:lstStyle>
            <a:lvl1pPr>
              <a:defRPr sz="2400" b="1" i="0">
                <a:solidFill>
                  <a:schemeClr val="bg1"/>
                </a:solidFill>
                <a:latin typeface="Arial"/>
                <a:cs typeface="Arial"/>
              </a:defRPr>
            </a:lvl1pPr>
          </a:lstStyle>
          <a:p>
            <a:endParaRPr/>
          </a:p>
        </p:txBody>
      </p:sp>
      <p:sp>
        <p:nvSpPr>
          <p:cNvPr id="3" name="Holder 3"/>
          <p:cNvSpPr>
            <a:spLocks noGrp="1"/>
          </p:cNvSpPr>
          <p:nvPr>
            <p:ph type="body" idx="1"/>
          </p:nvPr>
        </p:nvSpPr>
        <p:spPr>
          <a:xfrm>
            <a:off x="720953" y="1412493"/>
            <a:ext cx="7827009" cy="4237355"/>
          </a:xfrm>
          <a:prstGeom prst="rect">
            <a:avLst/>
          </a:prstGeom>
        </p:spPr>
        <p:txBody>
          <a:bodyPr wrap="square" lIns="0" tIns="0" rIns="0" bIns="0">
            <a:spAutoFit/>
          </a:bodyPr>
          <a:lstStyle>
            <a:lvl1pPr>
              <a:defRPr sz="16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9/18/2025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8"/>
            </a:xfrm>
            <a:prstGeom prst="rect">
              <a:avLst/>
            </a:prstGeom>
          </p:spPr>
        </p:pic>
        <p:pic>
          <p:nvPicPr>
            <p:cNvPr id="4" name="object 4"/>
            <p:cNvPicPr/>
            <p:nvPr/>
          </p:nvPicPr>
          <p:blipFill>
            <a:blip r:embed="rId3" cstate="print"/>
            <a:stretch>
              <a:fillRect/>
            </a:stretch>
          </p:blipFill>
          <p:spPr>
            <a:xfrm>
              <a:off x="22302" y="1879"/>
              <a:ext cx="6725920" cy="831621"/>
            </a:xfrm>
            <a:prstGeom prst="rect">
              <a:avLst/>
            </a:prstGeom>
          </p:spPr>
        </p:pic>
      </p:grpSp>
      <p:sp>
        <p:nvSpPr>
          <p:cNvPr id="5" name="object 5"/>
          <p:cNvSpPr txBox="1"/>
          <p:nvPr/>
        </p:nvSpPr>
        <p:spPr>
          <a:xfrm>
            <a:off x="1008684" y="33273"/>
            <a:ext cx="3712210" cy="666115"/>
          </a:xfrm>
          <a:prstGeom prst="rect">
            <a:avLst/>
          </a:prstGeom>
        </p:spPr>
        <p:txBody>
          <a:bodyPr vert="horz" wrap="square" lIns="0" tIns="12700" rIns="0" bIns="0" rtlCol="0">
            <a:spAutoFit/>
          </a:bodyPr>
          <a:lstStyle/>
          <a:p>
            <a:pPr marL="12700">
              <a:lnSpc>
                <a:spcPts val="2760"/>
              </a:lnSpc>
              <a:spcBef>
                <a:spcPts val="100"/>
              </a:spcBef>
            </a:pPr>
            <a:r>
              <a:rPr sz="2400" b="1" dirty="0">
                <a:solidFill>
                  <a:srgbClr val="FFFFFF"/>
                </a:solidFill>
                <a:latin typeface="Arial"/>
                <a:cs typeface="Arial"/>
              </a:rPr>
              <a:t>MIT</a:t>
            </a:r>
            <a:r>
              <a:rPr sz="2400" b="1" spc="-40" dirty="0">
                <a:solidFill>
                  <a:srgbClr val="FFFFFF"/>
                </a:solidFill>
                <a:latin typeface="Arial"/>
                <a:cs typeface="Arial"/>
              </a:rPr>
              <a:t> </a:t>
            </a:r>
            <a:r>
              <a:rPr sz="2400" b="1" dirty="0">
                <a:solidFill>
                  <a:srgbClr val="FFFFFF"/>
                </a:solidFill>
                <a:latin typeface="Arial"/>
                <a:cs typeface="Arial"/>
              </a:rPr>
              <a:t>School</a:t>
            </a:r>
            <a:r>
              <a:rPr sz="2400" b="1" spc="-25" dirty="0">
                <a:solidFill>
                  <a:srgbClr val="FFFFFF"/>
                </a:solidFill>
                <a:latin typeface="Arial"/>
                <a:cs typeface="Arial"/>
              </a:rPr>
              <a:t> </a:t>
            </a:r>
            <a:r>
              <a:rPr sz="2400" b="1" dirty="0">
                <a:solidFill>
                  <a:srgbClr val="FFFFFF"/>
                </a:solidFill>
                <a:latin typeface="Arial"/>
                <a:cs typeface="Arial"/>
              </a:rPr>
              <a:t>of</a:t>
            </a:r>
            <a:r>
              <a:rPr sz="2400" b="1" spc="-10" dirty="0">
                <a:solidFill>
                  <a:srgbClr val="FFFFFF"/>
                </a:solidFill>
                <a:latin typeface="Arial"/>
                <a:cs typeface="Arial"/>
              </a:rPr>
              <a:t> Computing</a:t>
            </a:r>
            <a:endParaRPr sz="2400" dirty="0">
              <a:latin typeface="Arial"/>
              <a:cs typeface="Arial"/>
            </a:endParaRPr>
          </a:p>
          <a:p>
            <a:pPr marL="12700">
              <a:lnSpc>
                <a:spcPts val="2280"/>
              </a:lnSpc>
            </a:pPr>
            <a:r>
              <a:rPr sz="2000" b="1" dirty="0">
                <a:solidFill>
                  <a:srgbClr val="FF0000"/>
                </a:solidFill>
                <a:latin typeface="Arial"/>
                <a:cs typeface="Arial"/>
              </a:rPr>
              <a:t>SUMMER</a:t>
            </a:r>
            <a:r>
              <a:rPr sz="2000" b="1" spc="-25" dirty="0">
                <a:solidFill>
                  <a:srgbClr val="FF0000"/>
                </a:solidFill>
                <a:latin typeface="Arial"/>
                <a:cs typeface="Arial"/>
              </a:rPr>
              <a:t> </a:t>
            </a:r>
            <a:r>
              <a:rPr sz="2000" b="1" dirty="0">
                <a:solidFill>
                  <a:srgbClr val="FF0000"/>
                </a:solidFill>
                <a:latin typeface="Arial"/>
                <a:cs typeface="Arial"/>
              </a:rPr>
              <a:t>INTERNSHIP</a:t>
            </a:r>
            <a:r>
              <a:rPr sz="2000" b="1" spc="-5" dirty="0">
                <a:solidFill>
                  <a:srgbClr val="FF0000"/>
                </a:solidFill>
                <a:latin typeface="Arial"/>
                <a:cs typeface="Arial"/>
              </a:rPr>
              <a:t> </a:t>
            </a:r>
            <a:r>
              <a:rPr sz="2000" b="1" dirty="0">
                <a:solidFill>
                  <a:srgbClr val="FF0000"/>
                </a:solidFill>
                <a:latin typeface="Arial"/>
                <a:cs typeface="Arial"/>
              </a:rPr>
              <a:t>-</a:t>
            </a:r>
            <a:r>
              <a:rPr sz="2000" b="1" spc="-15" dirty="0">
                <a:solidFill>
                  <a:srgbClr val="FF0000"/>
                </a:solidFill>
                <a:latin typeface="Arial"/>
                <a:cs typeface="Arial"/>
              </a:rPr>
              <a:t> </a:t>
            </a:r>
            <a:r>
              <a:rPr sz="2000" b="1" spc="-20" dirty="0">
                <a:solidFill>
                  <a:srgbClr val="FF0000"/>
                </a:solidFill>
                <a:latin typeface="Arial"/>
                <a:cs typeface="Arial"/>
              </a:rPr>
              <a:t>2025</a:t>
            </a:r>
            <a:endParaRPr sz="2000" dirty="0">
              <a:latin typeface="Arial"/>
              <a:cs typeface="Arial"/>
            </a:endParaRPr>
          </a:p>
        </p:txBody>
      </p:sp>
      <p:sp>
        <p:nvSpPr>
          <p:cNvPr id="6" name="object 6"/>
          <p:cNvSpPr txBox="1"/>
          <p:nvPr/>
        </p:nvSpPr>
        <p:spPr>
          <a:xfrm>
            <a:off x="565810" y="1248613"/>
            <a:ext cx="10911205" cy="3501600"/>
          </a:xfrm>
          <a:prstGeom prst="rect">
            <a:avLst/>
          </a:prstGeom>
        </p:spPr>
        <p:txBody>
          <a:bodyPr vert="horz" wrap="square" lIns="0" tIns="13335" rIns="0" bIns="0" rtlCol="0">
            <a:spAutoFit/>
          </a:bodyPr>
          <a:lstStyle/>
          <a:p>
            <a:pPr marL="170815" algn="ctr">
              <a:lnSpc>
                <a:spcPct val="100000"/>
              </a:lnSpc>
              <a:spcBef>
                <a:spcPts val="105"/>
              </a:spcBef>
            </a:pPr>
            <a:r>
              <a:rPr sz="2500" b="1" dirty="0">
                <a:latin typeface="Times New Roman"/>
                <a:cs typeface="Times New Roman"/>
              </a:rPr>
              <a:t>Third</a:t>
            </a:r>
            <a:r>
              <a:rPr sz="2500" b="1" spc="-30" dirty="0">
                <a:latin typeface="Times New Roman"/>
                <a:cs typeface="Times New Roman"/>
              </a:rPr>
              <a:t> </a:t>
            </a:r>
            <a:r>
              <a:rPr sz="2500" b="1" dirty="0">
                <a:latin typeface="Times New Roman"/>
                <a:cs typeface="Times New Roman"/>
              </a:rPr>
              <a:t>Year</a:t>
            </a:r>
            <a:r>
              <a:rPr sz="2500" b="1" spc="-15" dirty="0">
                <a:latin typeface="Times New Roman"/>
                <a:cs typeface="Times New Roman"/>
              </a:rPr>
              <a:t> </a:t>
            </a:r>
            <a:r>
              <a:rPr sz="2500" b="1" spc="-10" dirty="0">
                <a:latin typeface="Times New Roman"/>
                <a:cs typeface="Times New Roman"/>
              </a:rPr>
              <a:t>Engineering</a:t>
            </a:r>
            <a:endParaRPr sz="2500" dirty="0">
              <a:latin typeface="Times New Roman"/>
              <a:cs typeface="Times New Roman"/>
            </a:endParaRPr>
          </a:p>
          <a:p>
            <a:pPr marL="12700" marR="2653030" indent="2814955">
              <a:lnSpc>
                <a:spcPct val="100000"/>
              </a:lnSpc>
              <a:spcBef>
                <a:spcPts val="55"/>
              </a:spcBef>
            </a:pPr>
            <a:r>
              <a:rPr sz="2500" b="1" dirty="0">
                <a:solidFill>
                  <a:srgbClr val="CC00CC"/>
                </a:solidFill>
                <a:latin typeface="Times New Roman"/>
                <a:cs typeface="Times New Roman"/>
              </a:rPr>
              <a:t>Summer</a:t>
            </a:r>
            <a:r>
              <a:rPr sz="2500" b="1" spc="-160" dirty="0">
                <a:solidFill>
                  <a:srgbClr val="CC00CC"/>
                </a:solidFill>
                <a:latin typeface="Times New Roman"/>
                <a:cs typeface="Times New Roman"/>
              </a:rPr>
              <a:t> </a:t>
            </a:r>
            <a:r>
              <a:rPr sz="2500" b="1" dirty="0">
                <a:solidFill>
                  <a:srgbClr val="CC00CC"/>
                </a:solidFill>
                <a:latin typeface="Times New Roman"/>
                <a:cs typeface="Times New Roman"/>
              </a:rPr>
              <a:t>Internship</a:t>
            </a:r>
            <a:r>
              <a:rPr sz="2500" b="1" spc="-160" dirty="0">
                <a:solidFill>
                  <a:srgbClr val="CC00CC"/>
                </a:solidFill>
                <a:latin typeface="Times New Roman"/>
                <a:cs typeface="Times New Roman"/>
              </a:rPr>
              <a:t> </a:t>
            </a:r>
            <a:r>
              <a:rPr sz="2500" b="1" spc="-20" dirty="0">
                <a:solidFill>
                  <a:srgbClr val="CC00CC"/>
                </a:solidFill>
                <a:latin typeface="Times New Roman"/>
                <a:cs typeface="Times New Roman"/>
              </a:rPr>
              <a:t>2025 </a:t>
            </a:r>
            <a:r>
              <a:rPr sz="2500" b="1" dirty="0">
                <a:latin typeface="Times New Roman"/>
                <a:cs typeface="Times New Roman"/>
              </a:rPr>
              <a:t>Student</a:t>
            </a:r>
            <a:r>
              <a:rPr sz="2500" b="1" spc="-100" dirty="0">
                <a:latin typeface="Times New Roman"/>
                <a:cs typeface="Times New Roman"/>
              </a:rPr>
              <a:t> </a:t>
            </a:r>
            <a:r>
              <a:rPr sz="2500" b="1" spc="-10" dirty="0">
                <a:latin typeface="Times New Roman"/>
                <a:cs typeface="Times New Roman"/>
              </a:rPr>
              <a:t>Name:</a:t>
            </a:r>
            <a:r>
              <a:rPr lang="en-US" sz="2500" b="1" spc="-10" dirty="0">
                <a:latin typeface="Times New Roman"/>
                <a:cs typeface="Times New Roman"/>
              </a:rPr>
              <a:t> Keya Chaudhary</a:t>
            </a:r>
            <a:endParaRPr sz="2500" dirty="0">
              <a:latin typeface="Times New Roman"/>
              <a:cs typeface="Times New Roman"/>
            </a:endParaRPr>
          </a:p>
          <a:p>
            <a:pPr marL="12700">
              <a:lnSpc>
                <a:spcPct val="100000"/>
              </a:lnSpc>
            </a:pPr>
            <a:r>
              <a:rPr sz="2500" b="1" dirty="0">
                <a:latin typeface="Times New Roman"/>
                <a:cs typeface="Times New Roman"/>
              </a:rPr>
              <a:t>Enrollment</a:t>
            </a:r>
            <a:r>
              <a:rPr sz="2500" b="1" spc="-80" dirty="0">
                <a:latin typeface="Times New Roman"/>
                <a:cs typeface="Times New Roman"/>
              </a:rPr>
              <a:t> </a:t>
            </a:r>
            <a:r>
              <a:rPr sz="2500" b="1" spc="-10" dirty="0">
                <a:latin typeface="Times New Roman"/>
                <a:cs typeface="Times New Roman"/>
              </a:rPr>
              <a:t>Number:</a:t>
            </a:r>
            <a:r>
              <a:rPr lang="en-US" sz="2500" b="1" spc="-10" dirty="0">
                <a:latin typeface="Times New Roman"/>
                <a:cs typeface="Times New Roman"/>
              </a:rPr>
              <a:t> ADT23SOCB0517</a:t>
            </a:r>
            <a:endParaRPr sz="2500" dirty="0">
              <a:latin typeface="Times New Roman"/>
              <a:cs typeface="Times New Roman"/>
            </a:endParaRPr>
          </a:p>
          <a:p>
            <a:pPr marL="12700">
              <a:lnSpc>
                <a:spcPct val="100000"/>
              </a:lnSpc>
            </a:pPr>
            <a:r>
              <a:rPr sz="2500" b="1" dirty="0">
                <a:latin typeface="Times New Roman"/>
                <a:cs typeface="Times New Roman"/>
              </a:rPr>
              <a:t>Internship</a:t>
            </a:r>
            <a:r>
              <a:rPr sz="2500" b="1" spc="-175" dirty="0">
                <a:latin typeface="Times New Roman"/>
                <a:cs typeface="Times New Roman"/>
              </a:rPr>
              <a:t> </a:t>
            </a:r>
            <a:r>
              <a:rPr sz="2500" b="1" spc="-10" dirty="0">
                <a:latin typeface="Times New Roman"/>
                <a:cs typeface="Times New Roman"/>
              </a:rPr>
              <a:t>Type:</a:t>
            </a:r>
            <a:r>
              <a:rPr lang="en-US" sz="2500" b="1" spc="-10" dirty="0">
                <a:latin typeface="Times New Roman"/>
                <a:cs typeface="Times New Roman"/>
              </a:rPr>
              <a:t> Project-Based Learning</a:t>
            </a:r>
            <a:endParaRPr sz="2500" dirty="0">
              <a:latin typeface="Times New Roman"/>
              <a:cs typeface="Times New Roman"/>
            </a:endParaRPr>
          </a:p>
          <a:p>
            <a:pPr marL="12700">
              <a:lnSpc>
                <a:spcPct val="100000"/>
              </a:lnSpc>
            </a:pPr>
            <a:r>
              <a:rPr sz="2500" b="1" dirty="0">
                <a:latin typeface="Times New Roman"/>
                <a:cs typeface="Times New Roman"/>
              </a:rPr>
              <a:t>Company</a:t>
            </a:r>
            <a:r>
              <a:rPr sz="2500" b="1" spc="-145" dirty="0">
                <a:latin typeface="Times New Roman"/>
                <a:cs typeface="Times New Roman"/>
              </a:rPr>
              <a:t> </a:t>
            </a:r>
            <a:r>
              <a:rPr sz="2500" b="1" spc="-10" dirty="0">
                <a:latin typeface="Times New Roman"/>
                <a:cs typeface="Times New Roman"/>
              </a:rPr>
              <a:t>Name:</a:t>
            </a:r>
            <a:r>
              <a:rPr lang="en-US" sz="2500" b="1" spc="-10" dirty="0">
                <a:latin typeface="Times New Roman"/>
                <a:cs typeface="Times New Roman"/>
              </a:rPr>
              <a:t> Google </a:t>
            </a:r>
            <a:r>
              <a:rPr lang="en-US" sz="2500" b="1" spc="-10">
                <a:latin typeface="Times New Roman"/>
                <a:cs typeface="Times New Roman"/>
              </a:rPr>
              <a:t>AIML Virtual Internship</a:t>
            </a:r>
            <a:endParaRPr sz="2500" dirty="0">
              <a:latin typeface="Times New Roman"/>
              <a:cs typeface="Times New Roman"/>
            </a:endParaRPr>
          </a:p>
          <a:p>
            <a:pPr marL="12700">
              <a:lnSpc>
                <a:spcPct val="100000"/>
              </a:lnSpc>
              <a:spcBef>
                <a:spcPts val="5"/>
              </a:spcBef>
            </a:pPr>
            <a:r>
              <a:rPr sz="2500" b="1" dirty="0">
                <a:latin typeface="Times New Roman"/>
                <a:cs typeface="Times New Roman"/>
              </a:rPr>
              <a:t>Mentor</a:t>
            </a:r>
            <a:r>
              <a:rPr sz="2500" b="1" spc="-120" dirty="0">
                <a:latin typeface="Times New Roman"/>
                <a:cs typeface="Times New Roman"/>
              </a:rPr>
              <a:t> </a:t>
            </a:r>
            <a:r>
              <a:rPr sz="2500" b="1" spc="-10" dirty="0">
                <a:latin typeface="Times New Roman"/>
                <a:cs typeface="Times New Roman"/>
              </a:rPr>
              <a:t>Name:</a:t>
            </a:r>
            <a:r>
              <a:rPr lang="en-US" sz="2500" b="1" spc="-10" dirty="0">
                <a:latin typeface="Times New Roman"/>
                <a:cs typeface="Times New Roman"/>
              </a:rPr>
              <a:t> Prof. </a:t>
            </a:r>
            <a:r>
              <a:rPr lang="en-US" sz="2500" b="1" spc="-10" dirty="0" err="1">
                <a:latin typeface="Times New Roman"/>
                <a:cs typeface="Times New Roman"/>
              </a:rPr>
              <a:t>Anuja</a:t>
            </a:r>
            <a:r>
              <a:rPr lang="en-US" sz="2500" b="1" spc="-10" dirty="0">
                <a:latin typeface="Times New Roman"/>
                <a:cs typeface="Times New Roman"/>
              </a:rPr>
              <a:t> Jadhav</a:t>
            </a:r>
          </a:p>
          <a:p>
            <a:pPr marL="12700">
              <a:lnSpc>
                <a:spcPct val="100000"/>
              </a:lnSpc>
              <a:spcBef>
                <a:spcPts val="5"/>
              </a:spcBef>
            </a:pPr>
            <a:endParaRPr lang="en-US" sz="2500" b="1" spc="-10" dirty="0">
              <a:solidFill>
                <a:srgbClr val="FF0000"/>
              </a:solidFill>
              <a:latin typeface="Times New Roman"/>
              <a:cs typeface="Times New Roman"/>
            </a:endParaRPr>
          </a:p>
          <a:p>
            <a:pPr marL="12700">
              <a:lnSpc>
                <a:spcPct val="100000"/>
              </a:lnSpc>
              <a:spcBef>
                <a:spcPts val="5"/>
              </a:spcBef>
            </a:pPr>
            <a:r>
              <a:rPr sz="2500" dirty="0">
                <a:solidFill>
                  <a:srgbClr val="FF0000"/>
                </a:solidFill>
                <a:latin typeface="Times New Roman"/>
                <a:cs typeface="Times New Roman"/>
              </a:rPr>
              <a:t>Department</a:t>
            </a:r>
            <a:r>
              <a:rPr sz="2500" spc="-80" dirty="0">
                <a:solidFill>
                  <a:srgbClr val="FF0000"/>
                </a:solidFill>
                <a:latin typeface="Times New Roman"/>
                <a:cs typeface="Times New Roman"/>
              </a:rPr>
              <a:t> </a:t>
            </a:r>
            <a:r>
              <a:rPr sz="2500" dirty="0">
                <a:solidFill>
                  <a:srgbClr val="FF0000"/>
                </a:solidFill>
                <a:latin typeface="Times New Roman"/>
                <a:cs typeface="Times New Roman"/>
              </a:rPr>
              <a:t>of</a:t>
            </a:r>
            <a:r>
              <a:rPr sz="2500" spc="-70" dirty="0">
                <a:solidFill>
                  <a:srgbClr val="FF0000"/>
                </a:solidFill>
                <a:latin typeface="Times New Roman"/>
                <a:cs typeface="Times New Roman"/>
              </a:rPr>
              <a:t> </a:t>
            </a:r>
            <a:r>
              <a:rPr sz="2500" dirty="0">
                <a:solidFill>
                  <a:srgbClr val="FF0000"/>
                </a:solidFill>
                <a:latin typeface="Times New Roman"/>
                <a:cs typeface="Times New Roman"/>
              </a:rPr>
              <a:t>Computer</a:t>
            </a:r>
            <a:r>
              <a:rPr sz="2500" spc="-90" dirty="0">
                <a:solidFill>
                  <a:srgbClr val="FF0000"/>
                </a:solidFill>
                <a:latin typeface="Times New Roman"/>
                <a:cs typeface="Times New Roman"/>
              </a:rPr>
              <a:t> </a:t>
            </a:r>
            <a:r>
              <a:rPr sz="2500" dirty="0">
                <a:solidFill>
                  <a:srgbClr val="FF0000"/>
                </a:solidFill>
                <a:latin typeface="Times New Roman"/>
                <a:cs typeface="Times New Roman"/>
              </a:rPr>
              <a:t>Science</a:t>
            </a:r>
            <a:r>
              <a:rPr sz="2500" spc="-85" dirty="0">
                <a:solidFill>
                  <a:srgbClr val="FF0000"/>
                </a:solidFill>
                <a:latin typeface="Times New Roman"/>
                <a:cs typeface="Times New Roman"/>
              </a:rPr>
              <a:t> </a:t>
            </a:r>
            <a:r>
              <a:rPr sz="2500" dirty="0">
                <a:solidFill>
                  <a:srgbClr val="FF0000"/>
                </a:solidFill>
                <a:latin typeface="Times New Roman"/>
                <a:cs typeface="Times New Roman"/>
              </a:rPr>
              <a:t>&amp;</a:t>
            </a:r>
            <a:r>
              <a:rPr sz="2500" spc="-75" dirty="0">
                <a:solidFill>
                  <a:srgbClr val="FF0000"/>
                </a:solidFill>
                <a:latin typeface="Times New Roman"/>
                <a:cs typeface="Times New Roman"/>
              </a:rPr>
              <a:t> </a:t>
            </a:r>
            <a:r>
              <a:rPr sz="2500" dirty="0">
                <a:solidFill>
                  <a:srgbClr val="FF0000"/>
                </a:solidFill>
                <a:latin typeface="Times New Roman"/>
                <a:cs typeface="Times New Roman"/>
              </a:rPr>
              <a:t>Engineering/</a:t>
            </a:r>
            <a:r>
              <a:rPr sz="2500" spc="-100" dirty="0">
                <a:solidFill>
                  <a:srgbClr val="FF0000"/>
                </a:solidFill>
                <a:latin typeface="Times New Roman"/>
                <a:cs typeface="Times New Roman"/>
              </a:rPr>
              <a:t> </a:t>
            </a:r>
            <a:r>
              <a:rPr sz="2500" spc="-25" dirty="0">
                <a:solidFill>
                  <a:srgbClr val="FF0000"/>
                </a:solidFill>
                <a:latin typeface="Times New Roman"/>
                <a:cs typeface="Times New Roman"/>
              </a:rPr>
              <a:t>IT</a:t>
            </a:r>
            <a:endParaRPr sz="25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760"/>
              </a:lnSpc>
              <a:spcBef>
                <a:spcPts val="100"/>
              </a:spcBef>
            </a:pPr>
            <a:r>
              <a:rPr dirty="0"/>
              <a:t>MIT</a:t>
            </a:r>
            <a:r>
              <a:rPr spc="-40" dirty="0"/>
              <a:t> </a:t>
            </a:r>
            <a:r>
              <a:rPr dirty="0"/>
              <a:t>School</a:t>
            </a:r>
            <a:r>
              <a:rPr spc="-25" dirty="0"/>
              <a:t> </a:t>
            </a:r>
            <a:r>
              <a:rPr dirty="0"/>
              <a:t>of</a:t>
            </a:r>
            <a:r>
              <a:rPr spc="-10" dirty="0"/>
              <a:t> Computing</a:t>
            </a:r>
          </a:p>
          <a:p>
            <a:pPr marL="12700">
              <a:lnSpc>
                <a:spcPts val="2280"/>
              </a:lnSpc>
            </a:pPr>
            <a:r>
              <a:rPr sz="2000" dirty="0">
                <a:solidFill>
                  <a:srgbClr val="FF0000"/>
                </a:solidFill>
              </a:rPr>
              <a:t>SUMMER</a:t>
            </a:r>
            <a:r>
              <a:rPr sz="2000" spc="-25" dirty="0">
                <a:solidFill>
                  <a:srgbClr val="FF0000"/>
                </a:solidFill>
              </a:rPr>
              <a:t> </a:t>
            </a:r>
            <a:r>
              <a:rPr sz="2000" dirty="0">
                <a:solidFill>
                  <a:srgbClr val="FF0000"/>
                </a:solidFill>
              </a:rPr>
              <a:t>INTERNSHIP</a:t>
            </a:r>
            <a:r>
              <a:rPr sz="2000" spc="-5" dirty="0">
                <a:solidFill>
                  <a:srgbClr val="FF0000"/>
                </a:solidFill>
              </a:rPr>
              <a:t> </a:t>
            </a:r>
            <a:r>
              <a:rPr sz="2000" dirty="0">
                <a:solidFill>
                  <a:srgbClr val="FF0000"/>
                </a:solidFill>
              </a:rPr>
              <a:t>-</a:t>
            </a:r>
            <a:r>
              <a:rPr sz="2000" spc="-15" dirty="0">
                <a:solidFill>
                  <a:srgbClr val="FF0000"/>
                </a:solidFill>
              </a:rPr>
              <a:t> </a:t>
            </a:r>
            <a:r>
              <a:rPr sz="2000" spc="-20" dirty="0">
                <a:solidFill>
                  <a:srgbClr val="FF0000"/>
                </a:solidFill>
              </a:rPr>
              <a:t>2025</a:t>
            </a:r>
            <a:endParaRPr sz="2000"/>
          </a:p>
        </p:txBody>
      </p:sp>
      <p:sp>
        <p:nvSpPr>
          <p:cNvPr id="4" name="object 3">
            <a:extLst>
              <a:ext uri="{FF2B5EF4-FFF2-40B4-BE49-F238E27FC236}">
                <a16:creationId xmlns:a16="http://schemas.microsoft.com/office/drawing/2014/main" id="{065A0C9F-1B70-4843-BF1C-89697478D6D1}"/>
              </a:ext>
            </a:extLst>
          </p:cNvPr>
          <p:cNvSpPr txBox="1"/>
          <p:nvPr/>
        </p:nvSpPr>
        <p:spPr>
          <a:xfrm>
            <a:off x="608045" y="1066800"/>
            <a:ext cx="8739505" cy="289182"/>
          </a:xfrm>
          <a:prstGeom prst="rect">
            <a:avLst/>
          </a:prstGeom>
        </p:spPr>
        <p:txBody>
          <a:bodyPr vert="horz" wrap="square" lIns="0" tIns="12065" rIns="0" bIns="0" rtlCol="0">
            <a:spAutoFit/>
          </a:bodyPr>
          <a:lstStyle/>
          <a:p>
            <a:pPr marL="12700">
              <a:lnSpc>
                <a:spcPct val="100000"/>
              </a:lnSpc>
              <a:spcBef>
                <a:spcPts val="95"/>
              </a:spcBef>
            </a:pPr>
            <a:r>
              <a:rPr lang="en-US" sz="1800" b="1" dirty="0">
                <a:latin typeface="Times New Roman" panose="02020603050405020304" pitchFamily="18" charset="0"/>
                <a:cs typeface="Times New Roman" panose="02020603050405020304" pitchFamily="18" charset="0"/>
              </a:rPr>
              <a:t>Introduction</a:t>
            </a:r>
            <a:endParaRPr lang="en-US" sz="1800" dirty="0">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36E4ACDD-0DF4-4283-9669-72E998341F33}"/>
              </a:ext>
            </a:extLst>
          </p:cNvPr>
          <p:cNvSpPr txBox="1"/>
          <p:nvPr/>
        </p:nvSpPr>
        <p:spPr>
          <a:xfrm>
            <a:off x="608045" y="1715618"/>
            <a:ext cx="10386060" cy="3538148"/>
          </a:xfrm>
          <a:prstGeom prst="rect">
            <a:avLst/>
          </a:prstGeom>
        </p:spPr>
        <p:txBody>
          <a:bodyPr vert="horz" wrap="square" lIns="0" tIns="12065" rIns="0" bIns="0" rtlCol="0">
            <a:spAutoFit/>
          </a:bodyPr>
          <a:lstStyle/>
          <a:p>
            <a:r>
              <a:rPr lang="en-US" sz="1600" b="1" dirty="0">
                <a:latin typeface="Times New Roman" panose="02020603050405020304" pitchFamily="18" charset="0"/>
                <a:cs typeface="Times New Roman" panose="02020603050405020304" pitchFamily="18" charset="0"/>
              </a:rPr>
              <a:t>Internship Overview</a:t>
            </a:r>
          </a:p>
          <a:p>
            <a:pPr>
              <a:lnSpc>
                <a:spcPct val="150000"/>
              </a:lnSpc>
            </a:pPr>
            <a:endParaRPr lang="en-US" sz="1600"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Google AI-ML Virtual Internship is a transformative educational initiative designed to bridge the critical gap between theoretical academic knowledge and practical industry application in Artificial Intelligence and Machine Learning.</a:t>
            </a:r>
          </a:p>
          <a:p>
            <a:pPr>
              <a:lnSpc>
                <a:spcPct val="150000"/>
              </a:lnSpc>
            </a:pPr>
            <a:endParaRPr lang="en-US"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Focused on practical projects in computer vision using deep learning.</a:t>
            </a:r>
          </a:p>
          <a:p>
            <a:pPr marL="285750" indent="-285750">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Hands-on exposure to image classification, object detection, and integrated AI systems.</a:t>
            </a:r>
          </a:p>
          <a:p>
            <a:pPr marL="285750" indent="-285750">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Builds industry-ready skills for automation, accessibility, and smart environments.</a:t>
            </a:r>
          </a:p>
        </p:txBody>
      </p:sp>
    </p:spTree>
    <p:extLst>
      <p:ext uri="{BB962C8B-B14F-4D97-AF65-F5344CB8AC3E}">
        <p14:creationId xmlns:p14="http://schemas.microsoft.com/office/powerpoint/2010/main" val="3407893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760"/>
              </a:lnSpc>
              <a:spcBef>
                <a:spcPts val="100"/>
              </a:spcBef>
            </a:pPr>
            <a:r>
              <a:rPr dirty="0"/>
              <a:t>MIT</a:t>
            </a:r>
            <a:r>
              <a:rPr spc="-40" dirty="0"/>
              <a:t> </a:t>
            </a:r>
            <a:r>
              <a:rPr dirty="0"/>
              <a:t>School</a:t>
            </a:r>
            <a:r>
              <a:rPr spc="-25" dirty="0"/>
              <a:t> </a:t>
            </a:r>
            <a:r>
              <a:rPr dirty="0"/>
              <a:t>of</a:t>
            </a:r>
            <a:r>
              <a:rPr spc="-10" dirty="0"/>
              <a:t> Computing</a:t>
            </a:r>
          </a:p>
          <a:p>
            <a:pPr marL="12700">
              <a:lnSpc>
                <a:spcPts val="2280"/>
              </a:lnSpc>
            </a:pPr>
            <a:r>
              <a:rPr sz="2000" dirty="0">
                <a:solidFill>
                  <a:srgbClr val="FF0000"/>
                </a:solidFill>
              </a:rPr>
              <a:t>SUMMER</a:t>
            </a:r>
            <a:r>
              <a:rPr sz="2000" spc="-25" dirty="0">
                <a:solidFill>
                  <a:srgbClr val="FF0000"/>
                </a:solidFill>
              </a:rPr>
              <a:t> </a:t>
            </a:r>
            <a:r>
              <a:rPr sz="2000" dirty="0">
                <a:solidFill>
                  <a:srgbClr val="FF0000"/>
                </a:solidFill>
              </a:rPr>
              <a:t>INTERNSHIP</a:t>
            </a:r>
            <a:r>
              <a:rPr sz="2000" spc="-5" dirty="0">
                <a:solidFill>
                  <a:srgbClr val="FF0000"/>
                </a:solidFill>
              </a:rPr>
              <a:t> </a:t>
            </a:r>
            <a:r>
              <a:rPr sz="2000" dirty="0">
                <a:solidFill>
                  <a:srgbClr val="FF0000"/>
                </a:solidFill>
              </a:rPr>
              <a:t>-</a:t>
            </a:r>
            <a:r>
              <a:rPr sz="2000" spc="-15" dirty="0">
                <a:solidFill>
                  <a:srgbClr val="FF0000"/>
                </a:solidFill>
              </a:rPr>
              <a:t> </a:t>
            </a:r>
            <a:r>
              <a:rPr sz="2000" spc="-20" dirty="0">
                <a:solidFill>
                  <a:srgbClr val="FF0000"/>
                </a:solidFill>
              </a:rPr>
              <a:t>2025</a:t>
            </a:r>
            <a:endParaRPr sz="2000"/>
          </a:p>
        </p:txBody>
      </p:sp>
      <p:sp>
        <p:nvSpPr>
          <p:cNvPr id="3" name="object 3"/>
          <p:cNvSpPr txBox="1"/>
          <p:nvPr/>
        </p:nvSpPr>
        <p:spPr>
          <a:xfrm>
            <a:off x="608045" y="1723394"/>
            <a:ext cx="10386060" cy="3415037"/>
          </a:xfrm>
          <a:prstGeom prst="rect">
            <a:avLst/>
          </a:prstGeom>
        </p:spPr>
        <p:txBody>
          <a:bodyPr vert="horz" wrap="square" lIns="0" tIns="12065" rIns="0" bIns="0" rtlCol="0">
            <a:spAutoFit/>
          </a:bodyPr>
          <a:lstStyle/>
          <a:p>
            <a:r>
              <a:rPr lang="en-US" sz="1600" b="1" dirty="0">
                <a:latin typeface="Times New Roman" panose="02020603050405020304" pitchFamily="18" charset="0"/>
                <a:cs typeface="Times New Roman" panose="02020603050405020304" pitchFamily="18" charset="0"/>
              </a:rPr>
              <a:t>Project Themes</a:t>
            </a:r>
          </a:p>
          <a:p>
            <a:pPr marL="285750" indent="-285750">
              <a:lnSpc>
                <a:spcPct val="20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Image Classification </a:t>
            </a:r>
            <a:r>
              <a:rPr lang="en-US" sz="1600" dirty="0">
                <a:latin typeface="Times New Roman" panose="02020603050405020304" pitchFamily="18" charset="0"/>
                <a:cs typeface="Times New Roman" panose="02020603050405020304" pitchFamily="18" charset="0"/>
              </a:rPr>
              <a:t>– identifying the category of an image (e.g., recyclable vs non-recyclable).</a:t>
            </a:r>
          </a:p>
          <a:p>
            <a:pPr marL="285750" indent="-285750">
              <a:lnSpc>
                <a:spcPct val="2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Object Detection </a:t>
            </a:r>
            <a:r>
              <a:rPr lang="en-US" sz="1600" dirty="0">
                <a:latin typeface="Times New Roman" panose="02020603050405020304" pitchFamily="18" charset="0"/>
                <a:cs typeface="Times New Roman" panose="02020603050405020304" pitchFamily="18" charset="0"/>
              </a:rPr>
              <a:t>– detecting and labeling multiple objects within an image in real time.</a:t>
            </a:r>
          </a:p>
          <a:p>
            <a:pPr marL="285750" indent="-285750">
              <a:lnSpc>
                <a:spcPct val="2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Smart Desk </a:t>
            </a:r>
            <a:r>
              <a:rPr lang="en-US" sz="1600" dirty="0">
                <a:latin typeface="Times New Roman" panose="02020603050405020304" pitchFamily="18" charset="0"/>
                <a:cs typeface="Times New Roman" panose="02020603050405020304" pitchFamily="18" charset="0"/>
              </a:rPr>
              <a:t>– combining both techniques to recognize and locate items on a desk, aimed at enhancing accessibility and productivity.</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These projects demonstrate how AI can understand and interpret visual data, offering practical solutions for real-world problems in areas like automation, accessibility, and smart environments.</a:t>
            </a:r>
          </a:p>
        </p:txBody>
      </p:sp>
      <p:sp>
        <p:nvSpPr>
          <p:cNvPr id="4" name="object 3">
            <a:extLst>
              <a:ext uri="{FF2B5EF4-FFF2-40B4-BE49-F238E27FC236}">
                <a16:creationId xmlns:a16="http://schemas.microsoft.com/office/drawing/2014/main" id="{065A0C9F-1B70-4843-BF1C-89697478D6D1}"/>
              </a:ext>
            </a:extLst>
          </p:cNvPr>
          <p:cNvSpPr txBox="1"/>
          <p:nvPr/>
        </p:nvSpPr>
        <p:spPr>
          <a:xfrm>
            <a:off x="608045" y="1066800"/>
            <a:ext cx="8739505" cy="289182"/>
          </a:xfrm>
          <a:prstGeom prst="rect">
            <a:avLst/>
          </a:prstGeom>
        </p:spPr>
        <p:txBody>
          <a:bodyPr vert="horz" wrap="square" lIns="0" tIns="12065" rIns="0" bIns="0" rtlCol="0">
            <a:spAutoFit/>
          </a:bodyPr>
          <a:lstStyle/>
          <a:p>
            <a:pPr marL="12700">
              <a:lnSpc>
                <a:spcPct val="100000"/>
              </a:lnSpc>
              <a:spcBef>
                <a:spcPts val="95"/>
              </a:spcBef>
            </a:pPr>
            <a:r>
              <a:rPr lang="en-US" sz="1800" b="1" dirty="0">
                <a:latin typeface="Times New Roman" panose="02020603050405020304" pitchFamily="18" charset="0"/>
                <a:cs typeface="Times New Roman" panose="02020603050405020304" pitchFamily="18" charset="0"/>
              </a:rPr>
              <a:t>Introduction</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8040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760"/>
              </a:lnSpc>
              <a:spcBef>
                <a:spcPts val="100"/>
              </a:spcBef>
            </a:pPr>
            <a:r>
              <a:rPr dirty="0"/>
              <a:t>MIT</a:t>
            </a:r>
            <a:r>
              <a:rPr spc="-40" dirty="0"/>
              <a:t> </a:t>
            </a:r>
            <a:r>
              <a:rPr dirty="0"/>
              <a:t>School</a:t>
            </a:r>
            <a:r>
              <a:rPr spc="-25" dirty="0"/>
              <a:t> </a:t>
            </a:r>
            <a:r>
              <a:rPr dirty="0"/>
              <a:t>of</a:t>
            </a:r>
            <a:r>
              <a:rPr spc="-10" dirty="0"/>
              <a:t> Computing</a:t>
            </a:r>
          </a:p>
          <a:p>
            <a:pPr marL="12700">
              <a:lnSpc>
                <a:spcPts val="2280"/>
              </a:lnSpc>
            </a:pPr>
            <a:r>
              <a:rPr sz="2000" dirty="0">
                <a:solidFill>
                  <a:srgbClr val="FF0000"/>
                </a:solidFill>
              </a:rPr>
              <a:t>SUMMER</a:t>
            </a:r>
            <a:r>
              <a:rPr sz="2000" spc="-25" dirty="0">
                <a:solidFill>
                  <a:srgbClr val="FF0000"/>
                </a:solidFill>
              </a:rPr>
              <a:t> </a:t>
            </a:r>
            <a:r>
              <a:rPr sz="2000" dirty="0">
                <a:solidFill>
                  <a:srgbClr val="FF0000"/>
                </a:solidFill>
              </a:rPr>
              <a:t>INTERNSHIP</a:t>
            </a:r>
            <a:r>
              <a:rPr sz="2000" spc="-5" dirty="0">
                <a:solidFill>
                  <a:srgbClr val="FF0000"/>
                </a:solidFill>
              </a:rPr>
              <a:t> </a:t>
            </a:r>
            <a:r>
              <a:rPr sz="2000" dirty="0">
                <a:solidFill>
                  <a:srgbClr val="FF0000"/>
                </a:solidFill>
              </a:rPr>
              <a:t>-</a:t>
            </a:r>
            <a:r>
              <a:rPr sz="2000" spc="-15" dirty="0">
                <a:solidFill>
                  <a:srgbClr val="FF0000"/>
                </a:solidFill>
              </a:rPr>
              <a:t> </a:t>
            </a:r>
            <a:r>
              <a:rPr sz="2000" spc="-20" dirty="0">
                <a:solidFill>
                  <a:srgbClr val="FF0000"/>
                </a:solidFill>
              </a:rPr>
              <a:t>2025</a:t>
            </a:r>
            <a:endParaRPr sz="2000"/>
          </a:p>
        </p:txBody>
      </p:sp>
      <p:sp>
        <p:nvSpPr>
          <p:cNvPr id="3" name="object 3"/>
          <p:cNvSpPr txBox="1"/>
          <p:nvPr/>
        </p:nvSpPr>
        <p:spPr>
          <a:xfrm>
            <a:off x="608045" y="1715618"/>
            <a:ext cx="10386060" cy="3507370"/>
          </a:xfrm>
          <a:prstGeom prst="rect">
            <a:avLst/>
          </a:prstGeom>
        </p:spPr>
        <p:txBody>
          <a:bodyPr vert="horz" wrap="square" lIns="0" tIns="12065" rIns="0" bIns="0" rtlCol="0">
            <a:spAutoFit/>
          </a:bodyPr>
          <a:lstStyle/>
          <a:p>
            <a:r>
              <a:rPr lang="en-US" sz="1600" b="1" dirty="0">
                <a:latin typeface="Times New Roman" panose="02020603050405020304" pitchFamily="18" charset="0"/>
                <a:cs typeface="Times New Roman" panose="02020603050405020304" pitchFamily="18" charset="0"/>
              </a:rPr>
              <a:t>Real-World Relevance</a:t>
            </a:r>
          </a:p>
          <a:p>
            <a:pPr marL="285750" indent="-285750">
              <a:lnSpc>
                <a:spcPct val="150000"/>
              </a:lnSpc>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Automation – enabling machines to process visual information automatically.</a:t>
            </a:r>
          </a:p>
          <a:p>
            <a:pPr marL="285750" indent="-285750">
              <a:lnSpc>
                <a:spcPct val="2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Accessibility – supporting visually impaired users with AI-driven assistance.</a:t>
            </a:r>
          </a:p>
          <a:p>
            <a:pPr marL="285750" indent="-285750">
              <a:lnSpc>
                <a:spcPct val="2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Smart Environments – organizing and monitoring physical spaces intelligently.</a:t>
            </a:r>
          </a:p>
          <a:p>
            <a:pPr marL="285750" indent="-285750">
              <a:lnSpc>
                <a:spcPct val="2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step toward practical AI systems that bridge human needs and intelligent technology.</a:t>
            </a:r>
          </a:p>
          <a:p>
            <a:pPr marL="285750" indent="-285750">
              <a:lnSpc>
                <a:spcPct val="2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project suite from the Google AI-ML Virtual Internship focuses on developing intelligent visual systems using deep learning techniques.</a:t>
            </a:r>
          </a:p>
        </p:txBody>
      </p:sp>
      <p:sp>
        <p:nvSpPr>
          <p:cNvPr id="4" name="object 3">
            <a:extLst>
              <a:ext uri="{FF2B5EF4-FFF2-40B4-BE49-F238E27FC236}">
                <a16:creationId xmlns:a16="http://schemas.microsoft.com/office/drawing/2014/main" id="{065A0C9F-1B70-4843-BF1C-89697478D6D1}"/>
              </a:ext>
            </a:extLst>
          </p:cNvPr>
          <p:cNvSpPr txBox="1"/>
          <p:nvPr/>
        </p:nvSpPr>
        <p:spPr>
          <a:xfrm>
            <a:off x="608045" y="1066800"/>
            <a:ext cx="8739505" cy="289182"/>
          </a:xfrm>
          <a:prstGeom prst="rect">
            <a:avLst/>
          </a:prstGeom>
        </p:spPr>
        <p:txBody>
          <a:bodyPr vert="horz" wrap="square" lIns="0" tIns="12065" rIns="0" bIns="0" rtlCol="0">
            <a:spAutoFit/>
          </a:bodyPr>
          <a:lstStyle/>
          <a:p>
            <a:pPr marL="12700">
              <a:lnSpc>
                <a:spcPct val="100000"/>
              </a:lnSpc>
              <a:spcBef>
                <a:spcPts val="95"/>
              </a:spcBef>
            </a:pPr>
            <a:r>
              <a:rPr lang="en-US" sz="1800" b="1" dirty="0">
                <a:latin typeface="Times New Roman" panose="02020603050405020304" pitchFamily="18" charset="0"/>
                <a:cs typeface="Times New Roman" panose="02020603050405020304" pitchFamily="18" charset="0"/>
              </a:rPr>
              <a:t>Introduction</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5169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8"/>
            </a:xfrm>
            <a:prstGeom prst="rect">
              <a:avLst/>
            </a:prstGeom>
          </p:spPr>
        </p:pic>
        <p:pic>
          <p:nvPicPr>
            <p:cNvPr id="4" name="object 4"/>
            <p:cNvPicPr/>
            <p:nvPr/>
          </p:nvPicPr>
          <p:blipFill>
            <a:blip r:embed="rId3" cstate="print"/>
            <a:stretch>
              <a:fillRect/>
            </a:stretch>
          </p:blipFill>
          <p:spPr>
            <a:xfrm>
              <a:off x="22302" y="1879"/>
              <a:ext cx="6725920" cy="831621"/>
            </a:xfrm>
            <a:prstGeom prst="rect">
              <a:avLst/>
            </a:prstGeom>
          </p:spPr>
        </p:pic>
      </p:grpSp>
      <p:sp>
        <p:nvSpPr>
          <p:cNvPr id="5" name="object 5"/>
          <p:cNvSpPr txBox="1"/>
          <p:nvPr/>
        </p:nvSpPr>
        <p:spPr>
          <a:xfrm>
            <a:off x="1008684" y="50037"/>
            <a:ext cx="2496185" cy="431800"/>
          </a:xfrm>
          <a:prstGeom prst="rect">
            <a:avLst/>
          </a:prstGeom>
        </p:spPr>
        <p:txBody>
          <a:bodyPr vert="horz" wrap="square" lIns="0" tIns="37465" rIns="0" bIns="0" rtlCol="0">
            <a:spAutoFit/>
          </a:bodyPr>
          <a:lstStyle/>
          <a:p>
            <a:pPr marL="12700" marR="5080">
              <a:lnSpc>
                <a:spcPts val="1510"/>
              </a:lnSpc>
              <a:spcBef>
                <a:spcPts val="295"/>
              </a:spcBef>
            </a:pPr>
            <a:r>
              <a:rPr sz="1400" b="1" dirty="0">
                <a:solidFill>
                  <a:srgbClr val="FFFFFF"/>
                </a:solidFill>
                <a:latin typeface="Arial"/>
                <a:cs typeface="Arial"/>
              </a:rPr>
              <a:t>MIT</a:t>
            </a:r>
            <a:r>
              <a:rPr sz="1400" b="1" spc="-60" dirty="0">
                <a:solidFill>
                  <a:srgbClr val="FFFFFF"/>
                </a:solidFill>
                <a:latin typeface="Arial"/>
                <a:cs typeface="Arial"/>
              </a:rPr>
              <a:t> </a:t>
            </a:r>
            <a:r>
              <a:rPr sz="1400" b="1" dirty="0">
                <a:solidFill>
                  <a:srgbClr val="FFFFFF"/>
                </a:solidFill>
                <a:latin typeface="Arial"/>
                <a:cs typeface="Arial"/>
              </a:rPr>
              <a:t>School</a:t>
            </a:r>
            <a:r>
              <a:rPr sz="1400" b="1" spc="-20" dirty="0">
                <a:solidFill>
                  <a:srgbClr val="FFFFFF"/>
                </a:solidFill>
                <a:latin typeface="Arial"/>
                <a:cs typeface="Arial"/>
              </a:rPr>
              <a:t> </a:t>
            </a:r>
            <a:r>
              <a:rPr sz="1400" b="1" dirty="0">
                <a:solidFill>
                  <a:srgbClr val="FFFFFF"/>
                </a:solidFill>
                <a:latin typeface="Arial"/>
                <a:cs typeface="Arial"/>
              </a:rPr>
              <a:t>of</a:t>
            </a:r>
            <a:r>
              <a:rPr sz="1400" b="1" spc="-15" dirty="0">
                <a:solidFill>
                  <a:srgbClr val="FFFFFF"/>
                </a:solidFill>
                <a:latin typeface="Arial"/>
                <a:cs typeface="Arial"/>
              </a:rPr>
              <a:t> </a:t>
            </a:r>
            <a:r>
              <a:rPr sz="1400" b="1" spc="-10" dirty="0">
                <a:solidFill>
                  <a:srgbClr val="FFFFFF"/>
                </a:solidFill>
                <a:latin typeface="Arial"/>
                <a:cs typeface="Arial"/>
              </a:rPr>
              <a:t>Computing </a:t>
            </a:r>
            <a:r>
              <a:rPr sz="1400" b="1" dirty="0">
                <a:solidFill>
                  <a:srgbClr val="FF0000"/>
                </a:solidFill>
                <a:latin typeface="Arial"/>
                <a:cs typeface="Arial"/>
              </a:rPr>
              <a:t>SUMMER</a:t>
            </a:r>
            <a:r>
              <a:rPr sz="1400" b="1" spc="-65" dirty="0">
                <a:solidFill>
                  <a:srgbClr val="FF0000"/>
                </a:solidFill>
                <a:latin typeface="Arial"/>
                <a:cs typeface="Arial"/>
              </a:rPr>
              <a:t> </a:t>
            </a:r>
            <a:r>
              <a:rPr sz="1400" b="1" dirty="0">
                <a:solidFill>
                  <a:srgbClr val="FF0000"/>
                </a:solidFill>
                <a:latin typeface="Arial"/>
                <a:cs typeface="Arial"/>
              </a:rPr>
              <a:t>INTERNSHIP</a:t>
            </a:r>
            <a:r>
              <a:rPr sz="1400" b="1" spc="-10" dirty="0">
                <a:solidFill>
                  <a:srgbClr val="FF0000"/>
                </a:solidFill>
                <a:latin typeface="Arial"/>
                <a:cs typeface="Arial"/>
              </a:rPr>
              <a:t> </a:t>
            </a:r>
            <a:r>
              <a:rPr sz="1400" b="1" dirty="0">
                <a:solidFill>
                  <a:srgbClr val="FF0000"/>
                </a:solidFill>
                <a:latin typeface="Arial"/>
                <a:cs typeface="Arial"/>
              </a:rPr>
              <a:t>-</a:t>
            </a:r>
            <a:r>
              <a:rPr sz="1400" b="1" spc="-40" dirty="0">
                <a:solidFill>
                  <a:srgbClr val="FF0000"/>
                </a:solidFill>
                <a:latin typeface="Arial"/>
                <a:cs typeface="Arial"/>
              </a:rPr>
              <a:t> </a:t>
            </a:r>
            <a:r>
              <a:rPr sz="1400" b="1" spc="-20" dirty="0">
                <a:solidFill>
                  <a:srgbClr val="FF0000"/>
                </a:solidFill>
                <a:latin typeface="Arial"/>
                <a:cs typeface="Arial"/>
              </a:rPr>
              <a:t>2025</a:t>
            </a:r>
            <a:endParaRPr sz="1400">
              <a:latin typeface="Arial"/>
              <a:cs typeface="Arial"/>
            </a:endParaRPr>
          </a:p>
        </p:txBody>
      </p:sp>
      <p:sp>
        <p:nvSpPr>
          <p:cNvPr id="6" name="object 6"/>
          <p:cNvSpPr txBox="1"/>
          <p:nvPr/>
        </p:nvSpPr>
        <p:spPr>
          <a:xfrm>
            <a:off x="571370" y="1887753"/>
            <a:ext cx="11061700" cy="1075936"/>
          </a:xfrm>
          <a:prstGeom prst="rect">
            <a:avLst/>
          </a:prstGeom>
        </p:spPr>
        <p:txBody>
          <a:bodyPr vert="horz" wrap="square" lIns="0" tIns="12065" rIns="0" bIns="0" rtlCol="0">
            <a:spAutoFit/>
          </a:bodyPr>
          <a:lstStyle/>
          <a:p>
            <a:pPr>
              <a:lnSpc>
                <a:spcPct val="150000"/>
              </a:lnSpc>
            </a:pPr>
            <a:r>
              <a:rPr lang="en-US" sz="1600" dirty="0">
                <a:latin typeface="Times New Roman" panose="02020603050405020304" pitchFamily="18" charset="0"/>
                <a:cs typeface="Times New Roman" panose="02020603050405020304" pitchFamily="18" charset="0"/>
              </a:rPr>
              <a:t>There is a need for an intelligent system that can automatically classify and detect objects in images, as manual methods are time-consuming and error-prone. Such a system would improve real-time object localization and assist users, including the visually impaired, in dynamic environments like workspaces.</a:t>
            </a:r>
          </a:p>
        </p:txBody>
      </p:sp>
      <p:sp>
        <p:nvSpPr>
          <p:cNvPr id="7" name="object 3">
            <a:extLst>
              <a:ext uri="{FF2B5EF4-FFF2-40B4-BE49-F238E27FC236}">
                <a16:creationId xmlns:a16="http://schemas.microsoft.com/office/drawing/2014/main" id="{64B5725D-CC74-42C2-8BD8-1695191A3310}"/>
              </a:ext>
            </a:extLst>
          </p:cNvPr>
          <p:cNvSpPr txBox="1"/>
          <p:nvPr/>
        </p:nvSpPr>
        <p:spPr>
          <a:xfrm>
            <a:off x="565150" y="1174709"/>
            <a:ext cx="8739505" cy="289182"/>
          </a:xfrm>
          <a:prstGeom prst="rect">
            <a:avLst/>
          </a:prstGeom>
        </p:spPr>
        <p:txBody>
          <a:bodyPr vert="horz" wrap="square" lIns="0" tIns="12065" rIns="0" bIns="0" rtlCol="0">
            <a:spAutoFit/>
          </a:bodyPr>
          <a:lstStyle/>
          <a:p>
            <a:pPr marL="12700">
              <a:lnSpc>
                <a:spcPct val="100000"/>
              </a:lnSpc>
              <a:spcBef>
                <a:spcPts val="95"/>
              </a:spcBef>
            </a:pPr>
            <a:r>
              <a:rPr lang="en-US" sz="1800" b="1" dirty="0">
                <a:latin typeface="Times New Roman"/>
                <a:cs typeface="Times New Roman"/>
              </a:rPr>
              <a:t>Proposed</a:t>
            </a:r>
            <a:r>
              <a:rPr lang="en-US" sz="1800" b="1" spc="-45" dirty="0">
                <a:latin typeface="Times New Roman"/>
                <a:cs typeface="Times New Roman"/>
              </a:rPr>
              <a:t> </a:t>
            </a:r>
            <a:r>
              <a:rPr lang="en-US" sz="1800" b="1" dirty="0">
                <a:latin typeface="Times New Roman"/>
                <a:cs typeface="Times New Roman"/>
              </a:rPr>
              <a:t>Statement</a:t>
            </a:r>
            <a:endParaRPr lang="en-US" sz="18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760"/>
              </a:lnSpc>
              <a:spcBef>
                <a:spcPts val="100"/>
              </a:spcBef>
            </a:pPr>
            <a:r>
              <a:rPr dirty="0"/>
              <a:t>MIT</a:t>
            </a:r>
            <a:r>
              <a:rPr spc="-40" dirty="0"/>
              <a:t> </a:t>
            </a:r>
            <a:r>
              <a:rPr dirty="0"/>
              <a:t>School</a:t>
            </a:r>
            <a:r>
              <a:rPr spc="-25" dirty="0"/>
              <a:t> </a:t>
            </a:r>
            <a:r>
              <a:rPr dirty="0"/>
              <a:t>of</a:t>
            </a:r>
            <a:r>
              <a:rPr spc="-10" dirty="0"/>
              <a:t> Computing</a:t>
            </a:r>
          </a:p>
          <a:p>
            <a:pPr marL="12700">
              <a:lnSpc>
                <a:spcPts val="2280"/>
              </a:lnSpc>
            </a:pPr>
            <a:r>
              <a:rPr sz="2000" dirty="0">
                <a:solidFill>
                  <a:srgbClr val="FF0000"/>
                </a:solidFill>
              </a:rPr>
              <a:t>SUMMER</a:t>
            </a:r>
            <a:r>
              <a:rPr sz="2000" spc="-25" dirty="0">
                <a:solidFill>
                  <a:srgbClr val="FF0000"/>
                </a:solidFill>
              </a:rPr>
              <a:t> </a:t>
            </a:r>
            <a:r>
              <a:rPr sz="2000" dirty="0">
                <a:solidFill>
                  <a:srgbClr val="FF0000"/>
                </a:solidFill>
              </a:rPr>
              <a:t>INTERNSHIP</a:t>
            </a:r>
            <a:r>
              <a:rPr sz="2000" spc="-5" dirty="0">
                <a:solidFill>
                  <a:srgbClr val="FF0000"/>
                </a:solidFill>
              </a:rPr>
              <a:t> </a:t>
            </a:r>
            <a:r>
              <a:rPr sz="2000" dirty="0">
                <a:solidFill>
                  <a:srgbClr val="FF0000"/>
                </a:solidFill>
              </a:rPr>
              <a:t>-</a:t>
            </a:r>
            <a:r>
              <a:rPr sz="2000" spc="-15" dirty="0">
                <a:solidFill>
                  <a:srgbClr val="FF0000"/>
                </a:solidFill>
              </a:rPr>
              <a:t> </a:t>
            </a:r>
            <a:r>
              <a:rPr sz="2000" spc="-20" dirty="0">
                <a:solidFill>
                  <a:srgbClr val="FF0000"/>
                </a:solidFill>
              </a:rPr>
              <a:t>2025</a:t>
            </a:r>
            <a:endParaRPr sz="2000"/>
          </a:p>
        </p:txBody>
      </p:sp>
      <p:sp>
        <p:nvSpPr>
          <p:cNvPr id="4" name="object 3">
            <a:extLst>
              <a:ext uri="{FF2B5EF4-FFF2-40B4-BE49-F238E27FC236}">
                <a16:creationId xmlns:a16="http://schemas.microsoft.com/office/drawing/2014/main" id="{1E6C65AF-BB30-45B4-A61D-3E2E1A203B51}"/>
              </a:ext>
            </a:extLst>
          </p:cNvPr>
          <p:cNvSpPr txBox="1"/>
          <p:nvPr/>
        </p:nvSpPr>
        <p:spPr>
          <a:xfrm>
            <a:off x="685800" y="1157603"/>
            <a:ext cx="8739505" cy="289182"/>
          </a:xfrm>
          <a:prstGeom prst="rect">
            <a:avLst/>
          </a:prstGeom>
        </p:spPr>
        <p:txBody>
          <a:bodyPr vert="horz" wrap="square" lIns="0" tIns="12065" rIns="0" bIns="0" rtlCol="0">
            <a:spAutoFit/>
          </a:bodyPr>
          <a:lstStyle/>
          <a:p>
            <a:pPr marL="12700">
              <a:lnSpc>
                <a:spcPct val="100000"/>
              </a:lnSpc>
              <a:spcBef>
                <a:spcPts val="95"/>
              </a:spcBef>
            </a:pPr>
            <a:r>
              <a:rPr lang="en-US" sz="1800" b="1" dirty="0">
                <a:latin typeface="Times New Roman"/>
                <a:cs typeface="Times New Roman"/>
              </a:rPr>
              <a:t>Proposed</a:t>
            </a:r>
            <a:r>
              <a:rPr lang="en-US" sz="1800" b="1" spc="-45" dirty="0">
                <a:latin typeface="Times New Roman"/>
                <a:cs typeface="Times New Roman"/>
              </a:rPr>
              <a:t> </a:t>
            </a:r>
            <a:r>
              <a:rPr lang="en-US" sz="1800" b="1" dirty="0">
                <a:latin typeface="Times New Roman"/>
                <a:cs typeface="Times New Roman"/>
              </a:rPr>
              <a:t>Solution</a:t>
            </a:r>
            <a:endParaRPr lang="en-US" sz="1800" dirty="0">
              <a:latin typeface="Times New Roman"/>
              <a:cs typeface="Times New Roman"/>
            </a:endParaRPr>
          </a:p>
        </p:txBody>
      </p:sp>
      <p:pic>
        <p:nvPicPr>
          <p:cNvPr id="6" name="Picture 5">
            <a:extLst>
              <a:ext uri="{FF2B5EF4-FFF2-40B4-BE49-F238E27FC236}">
                <a16:creationId xmlns:a16="http://schemas.microsoft.com/office/drawing/2014/main" id="{21C48452-C4DF-42DE-995B-632AC60225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1400" y="1145162"/>
            <a:ext cx="2286000" cy="5457637"/>
          </a:xfrm>
          <a:prstGeom prst="rect">
            <a:avLst/>
          </a:prstGeom>
        </p:spPr>
      </p:pic>
      <p:sp>
        <p:nvSpPr>
          <p:cNvPr id="3" name="TextBox 2">
            <a:extLst>
              <a:ext uri="{FF2B5EF4-FFF2-40B4-BE49-F238E27FC236}">
                <a16:creationId xmlns:a16="http://schemas.microsoft.com/office/drawing/2014/main" id="{5DEDD089-6CE9-453F-82AD-392D47F437F1}"/>
              </a:ext>
            </a:extLst>
          </p:cNvPr>
          <p:cNvSpPr txBox="1"/>
          <p:nvPr/>
        </p:nvSpPr>
        <p:spPr>
          <a:xfrm>
            <a:off x="656252" y="2151727"/>
            <a:ext cx="6430347" cy="2554545"/>
          </a:xfrm>
          <a:prstGeom prst="rect">
            <a:avLst/>
          </a:prstGeom>
          <a:noFill/>
        </p:spPr>
        <p:txBody>
          <a:bodyPr wrap="square" rtlCol="0">
            <a:spAutoFit/>
          </a:bodyPr>
          <a:lstStyle/>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Input – Capture image/video from camera.</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Preprocessing – Resize and normalize image for model input.</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Parallel Models –</a:t>
            </a:r>
          </a:p>
          <a:p>
            <a:pPr marL="342900" lvl="4" indent="-3429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Image Classification (CNN) → Identifies object category.</a:t>
            </a:r>
          </a:p>
          <a:p>
            <a:pPr marL="342900" lvl="4" indent="-3429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Object Detection (YOLO/SSD) → Detects multiple objects with bounding boxes.</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Integration Layer (Smart Desk) – Combines classification + detection results.</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Output – Provides real-time feedback via visual annotations or audio prompts.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760"/>
              </a:lnSpc>
              <a:spcBef>
                <a:spcPts val="100"/>
              </a:spcBef>
            </a:pPr>
            <a:r>
              <a:rPr dirty="0"/>
              <a:t>MIT</a:t>
            </a:r>
            <a:r>
              <a:rPr spc="-40" dirty="0"/>
              <a:t> </a:t>
            </a:r>
            <a:r>
              <a:rPr dirty="0"/>
              <a:t>School</a:t>
            </a:r>
            <a:r>
              <a:rPr spc="-25" dirty="0"/>
              <a:t> </a:t>
            </a:r>
            <a:r>
              <a:rPr dirty="0"/>
              <a:t>of</a:t>
            </a:r>
            <a:r>
              <a:rPr spc="-10" dirty="0"/>
              <a:t> Computing</a:t>
            </a:r>
          </a:p>
          <a:p>
            <a:pPr marL="12700">
              <a:lnSpc>
                <a:spcPts val="2280"/>
              </a:lnSpc>
            </a:pPr>
            <a:r>
              <a:rPr sz="2000" dirty="0">
                <a:solidFill>
                  <a:srgbClr val="FF0000"/>
                </a:solidFill>
              </a:rPr>
              <a:t>SUMMER</a:t>
            </a:r>
            <a:r>
              <a:rPr sz="2000" spc="-25" dirty="0">
                <a:solidFill>
                  <a:srgbClr val="FF0000"/>
                </a:solidFill>
              </a:rPr>
              <a:t> </a:t>
            </a:r>
            <a:r>
              <a:rPr sz="2000" dirty="0">
                <a:solidFill>
                  <a:srgbClr val="FF0000"/>
                </a:solidFill>
              </a:rPr>
              <a:t>INTERNSHIP</a:t>
            </a:r>
            <a:r>
              <a:rPr sz="2000" spc="-5" dirty="0">
                <a:solidFill>
                  <a:srgbClr val="FF0000"/>
                </a:solidFill>
              </a:rPr>
              <a:t> </a:t>
            </a:r>
            <a:r>
              <a:rPr sz="2000" dirty="0">
                <a:solidFill>
                  <a:srgbClr val="FF0000"/>
                </a:solidFill>
              </a:rPr>
              <a:t>-</a:t>
            </a:r>
            <a:r>
              <a:rPr sz="2000" spc="-15" dirty="0">
                <a:solidFill>
                  <a:srgbClr val="FF0000"/>
                </a:solidFill>
              </a:rPr>
              <a:t> </a:t>
            </a:r>
            <a:r>
              <a:rPr sz="2000" spc="-20" dirty="0">
                <a:solidFill>
                  <a:srgbClr val="FF0000"/>
                </a:solidFill>
              </a:rPr>
              <a:t>2025</a:t>
            </a:r>
            <a:endParaRPr sz="2000"/>
          </a:p>
        </p:txBody>
      </p:sp>
      <p:sp>
        <p:nvSpPr>
          <p:cNvPr id="3" name="object 3"/>
          <p:cNvSpPr txBox="1"/>
          <p:nvPr/>
        </p:nvSpPr>
        <p:spPr>
          <a:xfrm>
            <a:off x="685800" y="1919933"/>
            <a:ext cx="8739505" cy="2525691"/>
          </a:xfrm>
          <a:prstGeom prst="rect">
            <a:avLst/>
          </a:prstGeom>
        </p:spPr>
        <p:txBody>
          <a:bodyPr vert="horz" wrap="square" lIns="0" tIns="12065" rIns="0" bIns="0" rtlCol="0">
            <a:spAutoFit/>
          </a:bodyPr>
          <a:lstStyle/>
          <a:p>
            <a:pPr marL="298450" indent="-285750">
              <a:lnSpc>
                <a:spcPct val="100000"/>
              </a:lnSpc>
              <a:spcBef>
                <a:spcPts val="95"/>
              </a:spcBef>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Foundational Learning: </a:t>
            </a:r>
            <a:r>
              <a:rPr lang="en-US" sz="1600" dirty="0">
                <a:latin typeface="Times New Roman" panose="02020603050405020304" pitchFamily="18" charset="0"/>
                <a:cs typeface="Times New Roman" panose="02020603050405020304" pitchFamily="18" charset="0"/>
              </a:rPr>
              <a:t>An introduction to fundamental AI/ML concepts, algorithms, and setting up the TensorFlow development environment.</a:t>
            </a:r>
          </a:p>
          <a:p>
            <a:pPr marL="298450" indent="-285750">
              <a:lnSpc>
                <a:spcPct val="100000"/>
              </a:lnSpc>
              <a:spcBef>
                <a:spcPts val="95"/>
              </a:spcBef>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Computer Vision Specialization: </a:t>
            </a:r>
            <a:r>
              <a:rPr lang="en-US" sz="1600" dirty="0">
                <a:latin typeface="Times New Roman" panose="02020603050405020304" pitchFamily="18" charset="0"/>
                <a:cs typeface="Times New Roman" panose="02020603050405020304" pitchFamily="18" charset="0"/>
              </a:rPr>
              <a:t>Focused learning on image processing, building Convolutional Neural Networks (CNNs), and implementing object detection.</a:t>
            </a:r>
          </a:p>
          <a:p>
            <a:pPr marL="298450" indent="-285750">
              <a:lnSpc>
                <a:spcPct val="100000"/>
              </a:lnSpc>
              <a:spcBef>
                <a:spcPts val="95"/>
              </a:spcBef>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Deep Learning Exploration :</a:t>
            </a:r>
            <a:r>
              <a:rPr lang="en-US" sz="1600" dirty="0">
                <a:latin typeface="Times New Roman" panose="02020603050405020304" pitchFamily="18" charset="0"/>
                <a:cs typeface="Times New Roman" panose="02020603050405020304" pitchFamily="18" charset="0"/>
              </a:rPr>
              <a:t> Building deep neural networks, working with Convolutional Neural Networks (CNNs) for NLP tasks, and mastering model evaluation and hyperparameter tuning.</a:t>
            </a:r>
          </a:p>
          <a:p>
            <a:pPr marL="298450" indent="-285750">
              <a:lnSpc>
                <a:spcPct val="100000"/>
              </a:lnSpc>
              <a:spcBef>
                <a:spcPts val="95"/>
              </a:spcBef>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Advanced Project Implementation: </a:t>
            </a:r>
            <a:r>
              <a:rPr lang="en-US" sz="1600" dirty="0">
                <a:latin typeface="Times New Roman" panose="02020603050405020304" pitchFamily="18" charset="0"/>
                <a:cs typeface="Times New Roman" panose="02020603050405020304" pitchFamily="18" charset="0"/>
              </a:rPr>
              <a:t>Developing custom models using tools like TensorFlow, utilizing the Vision API, and focusing on model optimization and deployment strategies.</a:t>
            </a:r>
          </a:p>
          <a:p>
            <a:pPr marL="298450" indent="-285750">
              <a:lnSpc>
                <a:spcPct val="100000"/>
              </a:lnSpc>
              <a:spcBef>
                <a:spcPts val="95"/>
              </a:spcBef>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Continuous Mentorship and Collaboration:</a:t>
            </a:r>
            <a:r>
              <a:rPr lang="en-US" sz="1600" dirty="0">
                <a:latin typeface="Times New Roman" panose="02020603050405020304" pitchFamily="18" charset="0"/>
                <a:cs typeface="Times New Roman" panose="02020603050405020304" pitchFamily="18" charset="0"/>
              </a:rPr>
              <a:t> Regular guidance from industry experts and collaborative projects to foster teamwork and communication skills.</a:t>
            </a:r>
            <a:endParaRPr sz="1600" dirty="0">
              <a:latin typeface="Times New Roman" panose="02020603050405020304" pitchFamily="18" charset="0"/>
              <a:cs typeface="Times New Roman" panose="02020603050405020304" pitchFamily="18" charset="0"/>
            </a:endParaRPr>
          </a:p>
        </p:txBody>
      </p:sp>
      <p:sp>
        <p:nvSpPr>
          <p:cNvPr id="4" name="object 3">
            <a:extLst>
              <a:ext uri="{FF2B5EF4-FFF2-40B4-BE49-F238E27FC236}">
                <a16:creationId xmlns:a16="http://schemas.microsoft.com/office/drawing/2014/main" id="{763C0FD0-2C0D-4F27-9560-9710E60FE459}"/>
              </a:ext>
            </a:extLst>
          </p:cNvPr>
          <p:cNvSpPr txBox="1"/>
          <p:nvPr/>
        </p:nvSpPr>
        <p:spPr>
          <a:xfrm>
            <a:off x="685800" y="1171289"/>
            <a:ext cx="8739505" cy="289182"/>
          </a:xfrm>
          <a:prstGeom prst="rect">
            <a:avLst/>
          </a:prstGeom>
        </p:spPr>
        <p:txBody>
          <a:bodyPr vert="horz" wrap="square" lIns="0" tIns="12065" rIns="0" bIns="0" rtlCol="0">
            <a:spAutoFit/>
          </a:bodyPr>
          <a:lstStyle/>
          <a:p>
            <a:pPr marL="12700" algn="l">
              <a:lnSpc>
                <a:spcPct val="100000"/>
              </a:lnSpc>
              <a:spcBef>
                <a:spcPts val="95"/>
              </a:spcBef>
            </a:pPr>
            <a:r>
              <a:rPr lang="en-US" b="1" dirty="0">
                <a:latin typeface="Times New Roman"/>
                <a:cs typeface="Times New Roman"/>
              </a:rPr>
              <a:t>Key Features of the Internship</a:t>
            </a:r>
            <a:endParaRPr b="1"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760"/>
              </a:lnSpc>
              <a:spcBef>
                <a:spcPts val="100"/>
              </a:spcBef>
            </a:pPr>
            <a:r>
              <a:rPr dirty="0"/>
              <a:t>MIT</a:t>
            </a:r>
            <a:r>
              <a:rPr spc="-40" dirty="0"/>
              <a:t> </a:t>
            </a:r>
            <a:r>
              <a:rPr dirty="0"/>
              <a:t>School</a:t>
            </a:r>
            <a:r>
              <a:rPr spc="-25" dirty="0"/>
              <a:t> </a:t>
            </a:r>
            <a:r>
              <a:rPr dirty="0"/>
              <a:t>of</a:t>
            </a:r>
            <a:r>
              <a:rPr spc="-10" dirty="0"/>
              <a:t> Computing</a:t>
            </a:r>
          </a:p>
          <a:p>
            <a:pPr marL="12700">
              <a:lnSpc>
                <a:spcPts val="2280"/>
              </a:lnSpc>
            </a:pPr>
            <a:r>
              <a:rPr sz="2000" dirty="0">
                <a:solidFill>
                  <a:srgbClr val="FF0000"/>
                </a:solidFill>
              </a:rPr>
              <a:t>SUMMER</a:t>
            </a:r>
            <a:r>
              <a:rPr sz="2000" spc="-25" dirty="0">
                <a:solidFill>
                  <a:srgbClr val="FF0000"/>
                </a:solidFill>
              </a:rPr>
              <a:t> </a:t>
            </a:r>
            <a:r>
              <a:rPr sz="2000" dirty="0">
                <a:solidFill>
                  <a:srgbClr val="FF0000"/>
                </a:solidFill>
              </a:rPr>
              <a:t>INTERNSHIP</a:t>
            </a:r>
            <a:r>
              <a:rPr sz="2000" spc="-5" dirty="0">
                <a:solidFill>
                  <a:srgbClr val="FF0000"/>
                </a:solidFill>
              </a:rPr>
              <a:t> </a:t>
            </a:r>
            <a:r>
              <a:rPr sz="2000" dirty="0">
                <a:solidFill>
                  <a:srgbClr val="FF0000"/>
                </a:solidFill>
              </a:rPr>
              <a:t>-</a:t>
            </a:r>
            <a:r>
              <a:rPr sz="2000" spc="-15" dirty="0">
                <a:solidFill>
                  <a:srgbClr val="FF0000"/>
                </a:solidFill>
              </a:rPr>
              <a:t> </a:t>
            </a:r>
            <a:r>
              <a:rPr sz="2000" spc="-20" dirty="0">
                <a:solidFill>
                  <a:srgbClr val="FF0000"/>
                </a:solidFill>
              </a:rPr>
              <a:t>2025</a:t>
            </a:r>
            <a:endParaRPr sz="2000"/>
          </a:p>
        </p:txBody>
      </p:sp>
      <p:sp>
        <p:nvSpPr>
          <p:cNvPr id="3" name="object 3"/>
          <p:cNvSpPr txBox="1"/>
          <p:nvPr/>
        </p:nvSpPr>
        <p:spPr>
          <a:xfrm>
            <a:off x="1008684" y="1461863"/>
            <a:ext cx="8139888" cy="4444165"/>
          </a:xfrm>
          <a:prstGeom prst="rect">
            <a:avLst/>
          </a:prstGeom>
        </p:spPr>
        <p:txBody>
          <a:bodyPr vert="horz" wrap="square" lIns="0" tIns="12065" rIns="0" bIns="0" rtlCol="0">
            <a:spAutoFit/>
          </a:bodyPr>
          <a:lstStyle/>
          <a:p>
            <a:pPr marL="103505">
              <a:lnSpc>
                <a:spcPct val="100000"/>
              </a:lnSpc>
            </a:pPr>
            <a:r>
              <a:rPr sz="1600" b="1" spc="-10" dirty="0">
                <a:latin typeface="Times New Roman"/>
                <a:cs typeface="Times New Roman"/>
              </a:rPr>
              <a:t>Frontend</a:t>
            </a:r>
            <a:endParaRPr sz="1600" dirty="0">
              <a:latin typeface="Times New Roman"/>
              <a:cs typeface="Times New Roman"/>
            </a:endParaRPr>
          </a:p>
          <a:p>
            <a:pPr marL="375285" indent="-285750">
              <a:lnSpc>
                <a:spcPct val="100000"/>
              </a:lnSpc>
              <a:buSzPct val="91666"/>
              <a:buFont typeface="Arial" panose="020B0604020202020204" pitchFamily="34" charset="0"/>
              <a:buChar char="•"/>
              <a:tabLst>
                <a:tab pos="156210" algn="l"/>
              </a:tabLst>
            </a:pPr>
            <a:r>
              <a:rPr lang="en-US" sz="1600" dirty="0">
                <a:latin typeface="Times New Roman"/>
                <a:cs typeface="Times New Roman"/>
              </a:rPr>
              <a:t>React.js </a:t>
            </a:r>
          </a:p>
          <a:p>
            <a:pPr marL="375285" indent="-285750">
              <a:lnSpc>
                <a:spcPct val="100000"/>
              </a:lnSpc>
              <a:buSzPct val="91666"/>
              <a:buFont typeface="Arial" panose="020B0604020202020204" pitchFamily="34" charset="0"/>
              <a:buChar char="•"/>
              <a:tabLst>
                <a:tab pos="156210" algn="l"/>
              </a:tabLst>
            </a:pPr>
            <a:r>
              <a:rPr lang="en-US" sz="1600" dirty="0" err="1">
                <a:latin typeface="Times New Roman"/>
                <a:cs typeface="Times New Roman"/>
              </a:rPr>
              <a:t>Streamlit</a:t>
            </a:r>
            <a:r>
              <a:rPr lang="en-US" sz="1600" dirty="0">
                <a:latin typeface="Times New Roman"/>
                <a:cs typeface="Times New Roman"/>
              </a:rPr>
              <a:t> </a:t>
            </a:r>
          </a:p>
          <a:p>
            <a:pPr marL="89535">
              <a:lnSpc>
                <a:spcPct val="100000"/>
              </a:lnSpc>
              <a:buSzPct val="91666"/>
              <a:tabLst>
                <a:tab pos="156210" algn="l"/>
              </a:tabLst>
            </a:pPr>
            <a:r>
              <a:rPr lang="en-US" sz="1600" b="1" dirty="0">
                <a:latin typeface="Times New Roman"/>
                <a:cs typeface="Times New Roman"/>
              </a:rPr>
              <a:t>Programming Languages:</a:t>
            </a:r>
          </a:p>
          <a:p>
            <a:pPr marL="375285" indent="-285750">
              <a:lnSpc>
                <a:spcPct val="100000"/>
              </a:lnSpc>
              <a:buSzPct val="91666"/>
              <a:buFont typeface="Arial" panose="020B0604020202020204" pitchFamily="34" charset="0"/>
              <a:buChar char="•"/>
              <a:tabLst>
                <a:tab pos="156210" algn="l"/>
              </a:tabLst>
            </a:pPr>
            <a:r>
              <a:rPr lang="en-US" sz="1600" dirty="0">
                <a:latin typeface="Times New Roman"/>
                <a:cs typeface="Times New Roman"/>
              </a:rPr>
              <a:t>Python </a:t>
            </a:r>
          </a:p>
          <a:p>
            <a:pPr marL="375285" indent="-285750">
              <a:lnSpc>
                <a:spcPct val="100000"/>
              </a:lnSpc>
              <a:buSzPct val="91666"/>
              <a:buFont typeface="Arial" panose="020B0604020202020204" pitchFamily="34" charset="0"/>
              <a:buChar char="•"/>
              <a:tabLst>
                <a:tab pos="156210" algn="l"/>
              </a:tabLst>
            </a:pPr>
            <a:r>
              <a:rPr lang="en-US" sz="1600" dirty="0">
                <a:latin typeface="Times New Roman"/>
                <a:cs typeface="Times New Roman"/>
              </a:rPr>
              <a:t>JavaScript</a:t>
            </a:r>
          </a:p>
          <a:p>
            <a:pPr marL="375285" indent="-285750">
              <a:lnSpc>
                <a:spcPct val="100000"/>
              </a:lnSpc>
              <a:buSzPct val="91666"/>
              <a:buFont typeface="Arial" panose="020B0604020202020204" pitchFamily="34" charset="0"/>
              <a:buChar char="•"/>
              <a:tabLst>
                <a:tab pos="156210" algn="l"/>
              </a:tabLst>
            </a:pPr>
            <a:r>
              <a:rPr lang="en-US" sz="1600" dirty="0">
                <a:latin typeface="Times New Roman"/>
                <a:cs typeface="Times New Roman"/>
              </a:rPr>
              <a:t>HTML/CSS </a:t>
            </a:r>
          </a:p>
          <a:p>
            <a:pPr marL="89535">
              <a:lnSpc>
                <a:spcPct val="100000"/>
              </a:lnSpc>
              <a:buSzPct val="91666"/>
              <a:tabLst>
                <a:tab pos="156210" algn="l"/>
              </a:tabLst>
            </a:pPr>
            <a:r>
              <a:rPr lang="en-US" sz="1600" b="1" dirty="0">
                <a:latin typeface="Times New Roman"/>
                <a:cs typeface="Times New Roman"/>
              </a:rPr>
              <a:t>AI/ML Frameworks &amp; Libraries:	</a:t>
            </a:r>
          </a:p>
          <a:p>
            <a:pPr marL="375285" indent="-285750">
              <a:lnSpc>
                <a:spcPct val="100000"/>
              </a:lnSpc>
              <a:buSzPct val="91666"/>
              <a:buFont typeface="Arial" panose="020B0604020202020204" pitchFamily="34" charset="0"/>
              <a:buChar char="•"/>
              <a:tabLst>
                <a:tab pos="156210" algn="l"/>
              </a:tabLst>
            </a:pPr>
            <a:r>
              <a:rPr lang="en-US" sz="1600" dirty="0">
                <a:latin typeface="Times New Roman"/>
                <a:cs typeface="Times New Roman"/>
              </a:rPr>
              <a:t>TensorFlow (v2+) </a:t>
            </a:r>
          </a:p>
          <a:p>
            <a:pPr marL="375285" indent="-285750">
              <a:lnSpc>
                <a:spcPct val="100000"/>
              </a:lnSpc>
              <a:buSzPct val="91666"/>
              <a:buFont typeface="Arial" panose="020B0604020202020204" pitchFamily="34" charset="0"/>
              <a:buChar char="•"/>
              <a:tabLst>
                <a:tab pos="156210" algn="l"/>
              </a:tabLst>
            </a:pPr>
            <a:r>
              <a:rPr lang="en-US" sz="1600" dirty="0">
                <a:latin typeface="Times New Roman"/>
                <a:cs typeface="Times New Roman"/>
              </a:rPr>
              <a:t>TensorFlow.js </a:t>
            </a:r>
          </a:p>
          <a:p>
            <a:pPr marL="375285" indent="-285750">
              <a:lnSpc>
                <a:spcPct val="100000"/>
              </a:lnSpc>
              <a:buSzPct val="91666"/>
              <a:buFont typeface="Arial" panose="020B0604020202020204" pitchFamily="34" charset="0"/>
              <a:buChar char="•"/>
              <a:tabLst>
                <a:tab pos="156210" algn="l"/>
              </a:tabLst>
            </a:pPr>
            <a:r>
              <a:rPr lang="en-US" sz="1600" dirty="0">
                <a:latin typeface="Times New Roman"/>
                <a:cs typeface="Times New Roman"/>
              </a:rPr>
              <a:t>OpenCV</a:t>
            </a:r>
          </a:p>
          <a:p>
            <a:pPr marL="375285" indent="-285750">
              <a:lnSpc>
                <a:spcPct val="100000"/>
              </a:lnSpc>
              <a:buSzPct val="91666"/>
              <a:buFont typeface="Arial" panose="020B0604020202020204" pitchFamily="34" charset="0"/>
              <a:buChar char="•"/>
              <a:tabLst>
                <a:tab pos="156210" algn="l"/>
              </a:tabLst>
            </a:pPr>
            <a:r>
              <a:rPr lang="en-US" sz="1600" dirty="0">
                <a:latin typeface="Times New Roman"/>
                <a:cs typeface="Times New Roman"/>
              </a:rPr>
              <a:t>NumPy </a:t>
            </a:r>
          </a:p>
          <a:p>
            <a:pPr marL="89535">
              <a:lnSpc>
                <a:spcPct val="100000"/>
              </a:lnSpc>
              <a:buSzPct val="91666"/>
              <a:tabLst>
                <a:tab pos="156210" algn="l"/>
              </a:tabLst>
            </a:pPr>
            <a:r>
              <a:rPr lang="en-US" sz="1600" b="1" dirty="0">
                <a:latin typeface="Times New Roman"/>
                <a:cs typeface="Times New Roman"/>
              </a:rPr>
              <a:t>Pre-trained Models:</a:t>
            </a:r>
          </a:p>
          <a:p>
            <a:pPr marL="375285" indent="-285750">
              <a:lnSpc>
                <a:spcPct val="100000"/>
              </a:lnSpc>
              <a:buSzPct val="91666"/>
              <a:buFont typeface="Arial" panose="020B0604020202020204" pitchFamily="34" charset="0"/>
              <a:buChar char="•"/>
              <a:tabLst>
                <a:tab pos="156210" algn="l"/>
              </a:tabLst>
            </a:pPr>
            <a:r>
              <a:rPr lang="en-US" sz="1600" dirty="0">
                <a:latin typeface="Times New Roman"/>
                <a:cs typeface="Times New Roman"/>
              </a:rPr>
              <a:t>COCO-SSD </a:t>
            </a:r>
          </a:p>
          <a:p>
            <a:pPr marL="375285" indent="-285750">
              <a:lnSpc>
                <a:spcPct val="100000"/>
              </a:lnSpc>
              <a:buSzPct val="91666"/>
              <a:buFont typeface="Arial" panose="020B0604020202020204" pitchFamily="34" charset="0"/>
              <a:buChar char="•"/>
              <a:tabLst>
                <a:tab pos="156210" algn="l"/>
              </a:tabLst>
            </a:pPr>
            <a:r>
              <a:rPr lang="en-US" sz="1600" dirty="0">
                <a:latin typeface="Times New Roman"/>
                <a:cs typeface="Times New Roman"/>
              </a:rPr>
              <a:t>Custom CNN model (recycle_classifier.h5) </a:t>
            </a:r>
          </a:p>
          <a:p>
            <a:pPr marL="89535">
              <a:lnSpc>
                <a:spcPct val="100000"/>
              </a:lnSpc>
              <a:buSzPct val="91666"/>
              <a:tabLst>
                <a:tab pos="156210" algn="l"/>
              </a:tabLst>
            </a:pPr>
            <a:r>
              <a:rPr lang="en-US" sz="1600" b="1" dirty="0">
                <a:latin typeface="Times New Roman"/>
                <a:cs typeface="Times New Roman"/>
              </a:rPr>
              <a:t>Development Tools &amp; Platforms:</a:t>
            </a:r>
          </a:p>
          <a:p>
            <a:pPr marL="375285" indent="-285750">
              <a:lnSpc>
                <a:spcPct val="100000"/>
              </a:lnSpc>
              <a:buSzPct val="91666"/>
              <a:buFont typeface="Arial" panose="020B0604020202020204" pitchFamily="34" charset="0"/>
              <a:buChar char="•"/>
              <a:tabLst>
                <a:tab pos="156210" algn="l"/>
              </a:tabLst>
            </a:pPr>
            <a:r>
              <a:rPr lang="en-US" sz="1600" dirty="0">
                <a:latin typeface="Times New Roman"/>
                <a:cs typeface="Times New Roman"/>
              </a:rPr>
              <a:t>Google Developers Pathways</a:t>
            </a:r>
          </a:p>
          <a:p>
            <a:pPr marL="375285" indent="-285750">
              <a:lnSpc>
                <a:spcPct val="100000"/>
              </a:lnSpc>
              <a:buSzPct val="91666"/>
              <a:buFont typeface="Arial" panose="020B0604020202020204" pitchFamily="34" charset="0"/>
              <a:buChar char="•"/>
              <a:tabLst>
                <a:tab pos="156210" algn="l"/>
              </a:tabLst>
            </a:pPr>
            <a:r>
              <a:rPr lang="en-US" sz="1600" dirty="0">
                <a:latin typeface="Times New Roman"/>
                <a:cs typeface="Times New Roman"/>
              </a:rPr>
              <a:t>GitHub</a:t>
            </a:r>
          </a:p>
        </p:txBody>
      </p:sp>
      <p:sp>
        <p:nvSpPr>
          <p:cNvPr id="4" name="object 3">
            <a:extLst>
              <a:ext uri="{FF2B5EF4-FFF2-40B4-BE49-F238E27FC236}">
                <a16:creationId xmlns:a16="http://schemas.microsoft.com/office/drawing/2014/main" id="{F52BF3C0-D64B-4BC9-92EB-C05FD9CA59B0}"/>
              </a:ext>
            </a:extLst>
          </p:cNvPr>
          <p:cNvSpPr txBox="1"/>
          <p:nvPr/>
        </p:nvSpPr>
        <p:spPr>
          <a:xfrm>
            <a:off x="1013349" y="936812"/>
            <a:ext cx="8739505" cy="289182"/>
          </a:xfrm>
          <a:prstGeom prst="rect">
            <a:avLst/>
          </a:prstGeom>
        </p:spPr>
        <p:txBody>
          <a:bodyPr vert="horz" wrap="square" lIns="0" tIns="12065" rIns="0" bIns="0" rtlCol="0">
            <a:spAutoFit/>
          </a:bodyPr>
          <a:lstStyle/>
          <a:p>
            <a:pPr marL="30480">
              <a:lnSpc>
                <a:spcPct val="100000"/>
              </a:lnSpc>
              <a:spcBef>
                <a:spcPts val="95"/>
              </a:spcBef>
            </a:pPr>
            <a:r>
              <a:rPr lang="en-US" sz="1800" b="1" dirty="0">
                <a:latin typeface="Times New Roman"/>
                <a:cs typeface="Times New Roman"/>
              </a:rPr>
              <a:t>Technology</a:t>
            </a:r>
            <a:r>
              <a:rPr lang="en-US" sz="1800" b="1" spc="-45" dirty="0">
                <a:latin typeface="Times New Roman"/>
                <a:cs typeface="Times New Roman"/>
              </a:rPr>
              <a:t> </a:t>
            </a:r>
            <a:r>
              <a:rPr lang="en-US" sz="1800" b="1" spc="-20" dirty="0">
                <a:latin typeface="Times New Roman"/>
                <a:cs typeface="Times New Roman"/>
              </a:rPr>
              <a:t>Stack</a:t>
            </a:r>
            <a:endParaRPr lang="en-US" sz="18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760"/>
              </a:lnSpc>
              <a:spcBef>
                <a:spcPts val="100"/>
              </a:spcBef>
            </a:pPr>
            <a:r>
              <a:rPr dirty="0"/>
              <a:t>MIT</a:t>
            </a:r>
            <a:r>
              <a:rPr spc="-40" dirty="0"/>
              <a:t> </a:t>
            </a:r>
            <a:r>
              <a:rPr dirty="0"/>
              <a:t>School</a:t>
            </a:r>
            <a:r>
              <a:rPr spc="-25" dirty="0"/>
              <a:t> </a:t>
            </a:r>
            <a:r>
              <a:rPr dirty="0"/>
              <a:t>of</a:t>
            </a:r>
            <a:r>
              <a:rPr spc="-10" dirty="0"/>
              <a:t> Computing</a:t>
            </a:r>
          </a:p>
          <a:p>
            <a:pPr marL="12700">
              <a:lnSpc>
                <a:spcPts val="2280"/>
              </a:lnSpc>
            </a:pPr>
            <a:r>
              <a:rPr sz="2000" dirty="0">
                <a:solidFill>
                  <a:srgbClr val="FF0000"/>
                </a:solidFill>
              </a:rPr>
              <a:t>SUMMER</a:t>
            </a:r>
            <a:r>
              <a:rPr sz="2000" spc="-25" dirty="0">
                <a:solidFill>
                  <a:srgbClr val="FF0000"/>
                </a:solidFill>
              </a:rPr>
              <a:t> </a:t>
            </a:r>
            <a:r>
              <a:rPr sz="2000" dirty="0">
                <a:solidFill>
                  <a:srgbClr val="FF0000"/>
                </a:solidFill>
              </a:rPr>
              <a:t>INTERNSHIP</a:t>
            </a:r>
            <a:r>
              <a:rPr sz="2000" spc="-5" dirty="0">
                <a:solidFill>
                  <a:srgbClr val="FF0000"/>
                </a:solidFill>
              </a:rPr>
              <a:t> </a:t>
            </a:r>
            <a:r>
              <a:rPr sz="2000" dirty="0">
                <a:solidFill>
                  <a:srgbClr val="FF0000"/>
                </a:solidFill>
              </a:rPr>
              <a:t>-</a:t>
            </a:r>
            <a:r>
              <a:rPr sz="2000" spc="-15" dirty="0">
                <a:solidFill>
                  <a:srgbClr val="FF0000"/>
                </a:solidFill>
              </a:rPr>
              <a:t> </a:t>
            </a:r>
            <a:r>
              <a:rPr sz="2000" spc="-20" dirty="0">
                <a:solidFill>
                  <a:srgbClr val="FF0000"/>
                </a:solidFill>
              </a:rPr>
              <a:t>2025</a:t>
            </a:r>
            <a:endParaRPr sz="2000"/>
          </a:p>
        </p:txBody>
      </p:sp>
      <p:sp>
        <p:nvSpPr>
          <p:cNvPr id="5" name="object 5"/>
          <p:cNvSpPr txBox="1"/>
          <p:nvPr/>
        </p:nvSpPr>
        <p:spPr>
          <a:xfrm>
            <a:off x="1008684" y="1224787"/>
            <a:ext cx="2028825" cy="258404"/>
          </a:xfrm>
          <a:prstGeom prst="rect">
            <a:avLst/>
          </a:prstGeom>
        </p:spPr>
        <p:txBody>
          <a:bodyPr vert="horz" wrap="square" lIns="0" tIns="12065" rIns="0" bIns="0" rtlCol="0">
            <a:spAutoFit/>
          </a:bodyPr>
          <a:lstStyle/>
          <a:p>
            <a:pPr marL="12700">
              <a:lnSpc>
                <a:spcPct val="100000"/>
              </a:lnSpc>
              <a:spcBef>
                <a:spcPts val="95"/>
              </a:spcBef>
            </a:pPr>
            <a:r>
              <a:rPr lang="en-US" sz="1600" b="1" dirty="0">
                <a:latin typeface="Times New Roman"/>
                <a:cs typeface="Times New Roman"/>
              </a:rPr>
              <a:t>Screenshots of Project</a:t>
            </a:r>
            <a:endParaRPr lang="en-US" sz="1600" dirty="0">
              <a:latin typeface="Times New Roman"/>
              <a:cs typeface="Times New Roman"/>
            </a:endParaRPr>
          </a:p>
        </p:txBody>
      </p:sp>
      <p:pic>
        <p:nvPicPr>
          <p:cNvPr id="1026" name="Picture 2" descr="image">
            <a:extLst>
              <a:ext uri="{FF2B5EF4-FFF2-40B4-BE49-F238E27FC236}">
                <a16:creationId xmlns:a16="http://schemas.microsoft.com/office/drawing/2014/main" id="{4A7C984A-BFE3-4A6B-AA60-9E2DF83F13E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8684" y="2008590"/>
            <a:ext cx="6443773" cy="362462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B231C5D-8C3E-48DD-92ED-53B044A0D3DC}"/>
              </a:ext>
            </a:extLst>
          </p:cNvPr>
          <p:cNvSpPr txBox="1"/>
          <p:nvPr/>
        </p:nvSpPr>
        <p:spPr>
          <a:xfrm>
            <a:off x="7772400" y="2008590"/>
            <a:ext cx="3962400" cy="2062103"/>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Recyclable VS Non-</a:t>
            </a:r>
            <a:r>
              <a:rPr lang="en-US" sz="1600" b="1" dirty="0" err="1">
                <a:latin typeface="Times New Roman" panose="02020603050405020304" pitchFamily="18" charset="0"/>
                <a:cs typeface="Times New Roman" panose="02020603050405020304" pitchFamily="18" charset="0"/>
              </a:rPr>
              <a:t>Recycleable</a:t>
            </a:r>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This project is a custom image classifier that detects whether an item belongs to the recyclable or non-recyclable category. Built using Python and TensorFlow, it promotes eco-friendly practices by assisting in waste categorization.</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760"/>
              </a:lnSpc>
              <a:spcBef>
                <a:spcPts val="100"/>
              </a:spcBef>
            </a:pPr>
            <a:r>
              <a:rPr dirty="0"/>
              <a:t>MIT</a:t>
            </a:r>
            <a:r>
              <a:rPr spc="-40" dirty="0"/>
              <a:t> </a:t>
            </a:r>
            <a:r>
              <a:rPr dirty="0"/>
              <a:t>School</a:t>
            </a:r>
            <a:r>
              <a:rPr spc="-25" dirty="0"/>
              <a:t> </a:t>
            </a:r>
            <a:r>
              <a:rPr dirty="0"/>
              <a:t>of</a:t>
            </a:r>
            <a:r>
              <a:rPr spc="-10" dirty="0"/>
              <a:t> Computing</a:t>
            </a:r>
          </a:p>
          <a:p>
            <a:pPr marL="12700">
              <a:lnSpc>
                <a:spcPts val="2280"/>
              </a:lnSpc>
            </a:pPr>
            <a:r>
              <a:rPr sz="2000" dirty="0">
                <a:solidFill>
                  <a:srgbClr val="FF0000"/>
                </a:solidFill>
              </a:rPr>
              <a:t>SUMMER</a:t>
            </a:r>
            <a:r>
              <a:rPr sz="2000" spc="-25" dirty="0">
                <a:solidFill>
                  <a:srgbClr val="FF0000"/>
                </a:solidFill>
              </a:rPr>
              <a:t> </a:t>
            </a:r>
            <a:r>
              <a:rPr sz="2000" dirty="0">
                <a:solidFill>
                  <a:srgbClr val="FF0000"/>
                </a:solidFill>
              </a:rPr>
              <a:t>INTERNSHIP</a:t>
            </a:r>
            <a:r>
              <a:rPr sz="2000" spc="-5" dirty="0">
                <a:solidFill>
                  <a:srgbClr val="FF0000"/>
                </a:solidFill>
              </a:rPr>
              <a:t> </a:t>
            </a:r>
            <a:r>
              <a:rPr sz="2000" dirty="0">
                <a:solidFill>
                  <a:srgbClr val="FF0000"/>
                </a:solidFill>
              </a:rPr>
              <a:t>-</a:t>
            </a:r>
            <a:r>
              <a:rPr sz="2000" spc="-15" dirty="0">
                <a:solidFill>
                  <a:srgbClr val="FF0000"/>
                </a:solidFill>
              </a:rPr>
              <a:t> </a:t>
            </a:r>
            <a:r>
              <a:rPr sz="2000" spc="-20" dirty="0">
                <a:solidFill>
                  <a:srgbClr val="FF0000"/>
                </a:solidFill>
              </a:rPr>
              <a:t>2025</a:t>
            </a:r>
            <a:endParaRPr sz="2000"/>
          </a:p>
        </p:txBody>
      </p:sp>
      <p:sp>
        <p:nvSpPr>
          <p:cNvPr id="5" name="object 5"/>
          <p:cNvSpPr txBox="1"/>
          <p:nvPr/>
        </p:nvSpPr>
        <p:spPr>
          <a:xfrm>
            <a:off x="1008684" y="1224787"/>
            <a:ext cx="2028825" cy="258404"/>
          </a:xfrm>
          <a:prstGeom prst="rect">
            <a:avLst/>
          </a:prstGeom>
        </p:spPr>
        <p:txBody>
          <a:bodyPr vert="horz" wrap="square" lIns="0" tIns="12065" rIns="0" bIns="0" rtlCol="0">
            <a:spAutoFit/>
          </a:bodyPr>
          <a:lstStyle/>
          <a:p>
            <a:pPr marL="12700">
              <a:lnSpc>
                <a:spcPct val="100000"/>
              </a:lnSpc>
              <a:spcBef>
                <a:spcPts val="95"/>
              </a:spcBef>
            </a:pPr>
            <a:r>
              <a:rPr lang="en-US" sz="1600" b="1" dirty="0">
                <a:latin typeface="Times New Roman"/>
                <a:cs typeface="Times New Roman"/>
              </a:rPr>
              <a:t>Screenshots of Project</a:t>
            </a:r>
            <a:endParaRPr lang="en-US" sz="1600" dirty="0">
              <a:latin typeface="Times New Roman"/>
              <a:cs typeface="Times New Roman"/>
            </a:endParaRPr>
          </a:p>
        </p:txBody>
      </p:sp>
      <p:pic>
        <p:nvPicPr>
          <p:cNvPr id="4" name="Picture 3">
            <a:extLst>
              <a:ext uri="{FF2B5EF4-FFF2-40B4-BE49-F238E27FC236}">
                <a16:creationId xmlns:a16="http://schemas.microsoft.com/office/drawing/2014/main" id="{91311B7D-CBE7-4DCB-8BED-98CBD4C57935}"/>
              </a:ext>
            </a:extLst>
          </p:cNvPr>
          <p:cNvPicPr>
            <a:picLocks noChangeAspect="1"/>
          </p:cNvPicPr>
          <p:nvPr/>
        </p:nvPicPr>
        <p:blipFill>
          <a:blip r:embed="rId2"/>
          <a:stretch>
            <a:fillRect/>
          </a:stretch>
        </p:blipFill>
        <p:spPr>
          <a:xfrm>
            <a:off x="1008684" y="1859717"/>
            <a:ext cx="7144716" cy="3777025"/>
          </a:xfrm>
          <a:prstGeom prst="rect">
            <a:avLst/>
          </a:prstGeom>
        </p:spPr>
      </p:pic>
      <p:sp>
        <p:nvSpPr>
          <p:cNvPr id="7" name="TextBox 6">
            <a:extLst>
              <a:ext uri="{FF2B5EF4-FFF2-40B4-BE49-F238E27FC236}">
                <a16:creationId xmlns:a16="http://schemas.microsoft.com/office/drawing/2014/main" id="{5ED41902-E026-41BD-8D4D-6004F50928FE}"/>
              </a:ext>
            </a:extLst>
          </p:cNvPr>
          <p:cNvSpPr txBox="1"/>
          <p:nvPr/>
        </p:nvSpPr>
        <p:spPr>
          <a:xfrm>
            <a:off x="8534400" y="1862642"/>
            <a:ext cx="3505200" cy="230832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Object Detection</a:t>
            </a:r>
          </a:p>
          <a:p>
            <a:pPr algn="ctr"/>
            <a:endParaRPr lang="en-US" sz="16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 real-time web application that uses TensorFlow.js and React.js to detect multiple objects in webcam feed or static images using the COCO-SSD pre-trained model. Fully runs in the browser with no backend.</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5099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760"/>
              </a:lnSpc>
              <a:spcBef>
                <a:spcPts val="100"/>
              </a:spcBef>
            </a:pPr>
            <a:r>
              <a:rPr dirty="0"/>
              <a:t>MIT</a:t>
            </a:r>
            <a:r>
              <a:rPr spc="-40" dirty="0"/>
              <a:t> </a:t>
            </a:r>
            <a:r>
              <a:rPr dirty="0"/>
              <a:t>School</a:t>
            </a:r>
            <a:r>
              <a:rPr spc="-25" dirty="0"/>
              <a:t> </a:t>
            </a:r>
            <a:r>
              <a:rPr dirty="0"/>
              <a:t>of</a:t>
            </a:r>
            <a:r>
              <a:rPr spc="-10" dirty="0"/>
              <a:t> Computing</a:t>
            </a:r>
          </a:p>
          <a:p>
            <a:pPr marL="12700">
              <a:lnSpc>
                <a:spcPts val="2280"/>
              </a:lnSpc>
            </a:pPr>
            <a:r>
              <a:rPr sz="2000" dirty="0">
                <a:solidFill>
                  <a:srgbClr val="FF0000"/>
                </a:solidFill>
              </a:rPr>
              <a:t>SUMMER</a:t>
            </a:r>
            <a:r>
              <a:rPr sz="2000" spc="-25" dirty="0">
                <a:solidFill>
                  <a:srgbClr val="FF0000"/>
                </a:solidFill>
              </a:rPr>
              <a:t> </a:t>
            </a:r>
            <a:r>
              <a:rPr sz="2000" dirty="0">
                <a:solidFill>
                  <a:srgbClr val="FF0000"/>
                </a:solidFill>
              </a:rPr>
              <a:t>INTERNSHIP</a:t>
            </a:r>
            <a:r>
              <a:rPr sz="2000" spc="-5" dirty="0">
                <a:solidFill>
                  <a:srgbClr val="FF0000"/>
                </a:solidFill>
              </a:rPr>
              <a:t> </a:t>
            </a:r>
            <a:r>
              <a:rPr sz="2000" dirty="0">
                <a:solidFill>
                  <a:srgbClr val="FF0000"/>
                </a:solidFill>
              </a:rPr>
              <a:t>-</a:t>
            </a:r>
            <a:r>
              <a:rPr sz="2000" spc="-15" dirty="0">
                <a:solidFill>
                  <a:srgbClr val="FF0000"/>
                </a:solidFill>
              </a:rPr>
              <a:t> </a:t>
            </a:r>
            <a:r>
              <a:rPr sz="2000" spc="-20" dirty="0">
                <a:solidFill>
                  <a:srgbClr val="FF0000"/>
                </a:solidFill>
              </a:rPr>
              <a:t>2025</a:t>
            </a:r>
            <a:endParaRPr sz="2000"/>
          </a:p>
        </p:txBody>
      </p:sp>
      <p:sp>
        <p:nvSpPr>
          <p:cNvPr id="5" name="object 5"/>
          <p:cNvSpPr txBox="1"/>
          <p:nvPr/>
        </p:nvSpPr>
        <p:spPr>
          <a:xfrm>
            <a:off x="1008684" y="1224787"/>
            <a:ext cx="2028825" cy="258404"/>
          </a:xfrm>
          <a:prstGeom prst="rect">
            <a:avLst/>
          </a:prstGeom>
        </p:spPr>
        <p:txBody>
          <a:bodyPr vert="horz" wrap="square" lIns="0" tIns="12065" rIns="0" bIns="0" rtlCol="0">
            <a:spAutoFit/>
          </a:bodyPr>
          <a:lstStyle/>
          <a:p>
            <a:pPr marL="12700">
              <a:lnSpc>
                <a:spcPct val="100000"/>
              </a:lnSpc>
              <a:spcBef>
                <a:spcPts val="95"/>
              </a:spcBef>
            </a:pPr>
            <a:r>
              <a:rPr lang="en-US" sz="1600" b="1" dirty="0">
                <a:latin typeface="Times New Roman"/>
                <a:cs typeface="Times New Roman"/>
              </a:rPr>
              <a:t>Screenshots of Project</a:t>
            </a:r>
            <a:endParaRPr sz="1600" dirty="0">
              <a:latin typeface="Times New Roman"/>
              <a:cs typeface="Times New Roman"/>
            </a:endParaRPr>
          </a:p>
        </p:txBody>
      </p:sp>
      <p:pic>
        <p:nvPicPr>
          <p:cNvPr id="2050" name="Picture 2" descr="image">
            <a:extLst>
              <a:ext uri="{FF2B5EF4-FFF2-40B4-BE49-F238E27FC236}">
                <a16:creationId xmlns:a16="http://schemas.microsoft.com/office/drawing/2014/main" id="{620BAE1D-6967-4B41-BAB1-9733871A82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8684" y="1856608"/>
            <a:ext cx="6821340" cy="37766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AD7F5F5-C5D6-4AE9-B32B-A501D7396F9F}"/>
              </a:ext>
            </a:extLst>
          </p:cNvPr>
          <p:cNvSpPr txBox="1"/>
          <p:nvPr/>
        </p:nvSpPr>
        <p:spPr>
          <a:xfrm>
            <a:off x="8534400" y="1856607"/>
            <a:ext cx="3200400" cy="3046988"/>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Final Project- Smart Desk</a:t>
            </a:r>
          </a:p>
          <a:p>
            <a:pPr marL="285750" indent="-285750" algn="ctr">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This all-in-one Smart Desk Classifier project was developed during the Google AI-ML Virtual Internship</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It combines:</a:t>
            </a:r>
            <a:endParaRPr lang="en-US" sz="1600"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1600" dirty="0">
                <a:latin typeface="Times New Roman" panose="02020603050405020304" pitchFamily="18" charset="0"/>
                <a:cs typeface="Times New Roman" panose="02020603050405020304" pitchFamily="18" charset="0"/>
              </a:rPr>
              <a:t>Object Detection: Identifying desk items in real time</a:t>
            </a:r>
            <a:endParaRPr lang="en-US" sz="1600"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1600" dirty="0">
                <a:latin typeface="Times New Roman" panose="02020603050405020304" pitchFamily="18" charset="0"/>
                <a:cs typeface="Times New Roman" panose="02020603050405020304" pitchFamily="18" charset="0"/>
              </a:rPr>
              <a:t> Image Classification: Determining recyclability of uploaded images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347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760"/>
              </a:lnSpc>
              <a:spcBef>
                <a:spcPts val="100"/>
              </a:spcBef>
            </a:pPr>
            <a:r>
              <a:rPr dirty="0"/>
              <a:t>MIT</a:t>
            </a:r>
            <a:r>
              <a:rPr spc="-40" dirty="0"/>
              <a:t> </a:t>
            </a:r>
            <a:r>
              <a:rPr dirty="0"/>
              <a:t>School</a:t>
            </a:r>
            <a:r>
              <a:rPr spc="-25" dirty="0"/>
              <a:t> </a:t>
            </a:r>
            <a:r>
              <a:rPr dirty="0"/>
              <a:t>of</a:t>
            </a:r>
            <a:r>
              <a:rPr spc="-10" dirty="0"/>
              <a:t> Computing</a:t>
            </a:r>
          </a:p>
          <a:p>
            <a:pPr marL="12700">
              <a:lnSpc>
                <a:spcPts val="2280"/>
              </a:lnSpc>
            </a:pPr>
            <a:r>
              <a:rPr sz="2000" dirty="0">
                <a:solidFill>
                  <a:srgbClr val="FF0000"/>
                </a:solidFill>
              </a:rPr>
              <a:t>SUMMER</a:t>
            </a:r>
            <a:r>
              <a:rPr sz="2000" spc="-25" dirty="0">
                <a:solidFill>
                  <a:srgbClr val="FF0000"/>
                </a:solidFill>
              </a:rPr>
              <a:t> </a:t>
            </a:r>
            <a:r>
              <a:rPr sz="2000" dirty="0">
                <a:solidFill>
                  <a:srgbClr val="FF0000"/>
                </a:solidFill>
              </a:rPr>
              <a:t>INTERNSHIP</a:t>
            </a:r>
            <a:r>
              <a:rPr sz="2000" spc="-5" dirty="0">
                <a:solidFill>
                  <a:srgbClr val="FF0000"/>
                </a:solidFill>
              </a:rPr>
              <a:t> </a:t>
            </a:r>
            <a:r>
              <a:rPr sz="2000" dirty="0">
                <a:solidFill>
                  <a:srgbClr val="FF0000"/>
                </a:solidFill>
              </a:rPr>
              <a:t>-</a:t>
            </a:r>
            <a:r>
              <a:rPr sz="2000" spc="-15" dirty="0">
                <a:solidFill>
                  <a:srgbClr val="FF0000"/>
                </a:solidFill>
              </a:rPr>
              <a:t> </a:t>
            </a:r>
            <a:r>
              <a:rPr sz="2000" spc="-20" dirty="0">
                <a:solidFill>
                  <a:srgbClr val="FF0000"/>
                </a:solidFill>
              </a:rPr>
              <a:t>2025</a:t>
            </a:r>
            <a:endParaRPr sz="2000"/>
          </a:p>
        </p:txBody>
      </p:sp>
      <p:sp>
        <p:nvSpPr>
          <p:cNvPr id="3" name="object 3"/>
          <p:cNvSpPr txBox="1"/>
          <p:nvPr/>
        </p:nvSpPr>
        <p:spPr>
          <a:xfrm>
            <a:off x="643235" y="1828800"/>
            <a:ext cx="8354059" cy="1101584"/>
          </a:xfrm>
          <a:prstGeom prst="rect">
            <a:avLst/>
          </a:prstGeom>
        </p:spPr>
        <p:txBody>
          <a:bodyPr vert="horz" wrap="square" lIns="0" tIns="12065" rIns="0" bIns="0" rtlCol="0">
            <a:spAutoFit/>
          </a:bodyPr>
          <a:lstStyle/>
          <a:p>
            <a:pPr marL="298450" indent="-285750">
              <a:lnSpc>
                <a:spcPct val="150000"/>
              </a:lnSpc>
              <a:spcBef>
                <a:spcPts val="95"/>
              </a:spcBef>
              <a:buFont typeface="Arial" panose="020B0604020202020204" pitchFamily="34" charset="0"/>
              <a:buChar char="•"/>
            </a:pPr>
            <a:r>
              <a:rPr lang="en-US" sz="1600" dirty="0">
                <a:latin typeface="Times New Roman"/>
                <a:cs typeface="Times New Roman"/>
              </a:rPr>
              <a:t>Creating AI Solutions for Accessibility and Inclusive Technology Challenge</a:t>
            </a:r>
          </a:p>
          <a:p>
            <a:pPr marL="298450" indent="-285750">
              <a:lnSpc>
                <a:spcPct val="150000"/>
              </a:lnSpc>
              <a:spcBef>
                <a:spcPts val="95"/>
              </a:spcBef>
              <a:buFont typeface="Arial" panose="020B0604020202020204" pitchFamily="34" charset="0"/>
              <a:buChar char="•"/>
            </a:pPr>
            <a:r>
              <a:rPr lang="en-US" sz="1600" dirty="0">
                <a:latin typeface="Times New Roman"/>
                <a:cs typeface="Times New Roman"/>
              </a:rPr>
              <a:t>Implementing Explainable AI for Better Model Interpretability Challenge</a:t>
            </a:r>
          </a:p>
          <a:p>
            <a:pPr marL="298450" indent="-285750">
              <a:lnSpc>
                <a:spcPct val="150000"/>
              </a:lnSpc>
              <a:spcBef>
                <a:spcPts val="95"/>
              </a:spcBef>
              <a:buFont typeface="Arial" panose="020B0604020202020204" pitchFamily="34" charset="0"/>
              <a:buChar char="•"/>
            </a:pPr>
            <a:r>
              <a:rPr lang="en-US" sz="1600" dirty="0">
                <a:latin typeface="Times New Roman"/>
                <a:cs typeface="Times New Roman"/>
              </a:rPr>
              <a:t>Addressing Bias and Fairness in Machine Learning Systems Challenge</a:t>
            </a:r>
          </a:p>
        </p:txBody>
      </p:sp>
      <p:sp>
        <p:nvSpPr>
          <p:cNvPr id="4" name="object 3">
            <a:extLst>
              <a:ext uri="{FF2B5EF4-FFF2-40B4-BE49-F238E27FC236}">
                <a16:creationId xmlns:a16="http://schemas.microsoft.com/office/drawing/2014/main" id="{A9B9EA57-B93B-4AEF-BA44-9C712DE13821}"/>
              </a:ext>
            </a:extLst>
          </p:cNvPr>
          <p:cNvSpPr txBox="1"/>
          <p:nvPr/>
        </p:nvSpPr>
        <p:spPr>
          <a:xfrm>
            <a:off x="643235" y="1190970"/>
            <a:ext cx="8739505" cy="289182"/>
          </a:xfrm>
          <a:prstGeom prst="rect">
            <a:avLst/>
          </a:prstGeom>
        </p:spPr>
        <p:txBody>
          <a:bodyPr vert="horz" wrap="square" lIns="0" tIns="12065" rIns="0" bIns="0" rtlCol="0">
            <a:spAutoFit/>
          </a:bodyPr>
          <a:lstStyle/>
          <a:p>
            <a:pPr marL="12700">
              <a:lnSpc>
                <a:spcPct val="100000"/>
              </a:lnSpc>
              <a:spcBef>
                <a:spcPts val="95"/>
              </a:spcBef>
            </a:pPr>
            <a:r>
              <a:rPr lang="en-US" sz="1800" b="1" dirty="0">
                <a:latin typeface="Times New Roman"/>
                <a:cs typeface="Times New Roman"/>
              </a:rPr>
              <a:t>Future</a:t>
            </a:r>
            <a:r>
              <a:rPr lang="en-US" sz="1800" b="1" spc="-15" dirty="0">
                <a:latin typeface="Times New Roman"/>
                <a:cs typeface="Times New Roman"/>
              </a:rPr>
              <a:t> </a:t>
            </a:r>
            <a:r>
              <a:rPr lang="en-US" sz="1800" b="1" spc="-10" dirty="0">
                <a:latin typeface="Times New Roman"/>
                <a:cs typeface="Times New Roman"/>
              </a:rPr>
              <a:t>Scope</a:t>
            </a:r>
            <a:endParaRPr lang="en-US" sz="1800" dirty="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760"/>
              </a:lnSpc>
              <a:spcBef>
                <a:spcPts val="100"/>
              </a:spcBef>
            </a:pPr>
            <a:r>
              <a:rPr dirty="0"/>
              <a:t>MIT</a:t>
            </a:r>
            <a:r>
              <a:rPr spc="-40" dirty="0"/>
              <a:t> </a:t>
            </a:r>
            <a:r>
              <a:rPr dirty="0"/>
              <a:t>School</a:t>
            </a:r>
            <a:r>
              <a:rPr spc="-25" dirty="0"/>
              <a:t> </a:t>
            </a:r>
            <a:r>
              <a:rPr dirty="0"/>
              <a:t>of</a:t>
            </a:r>
            <a:r>
              <a:rPr spc="-10" dirty="0"/>
              <a:t> Computing</a:t>
            </a:r>
          </a:p>
          <a:p>
            <a:pPr marL="12700">
              <a:lnSpc>
                <a:spcPts val="2280"/>
              </a:lnSpc>
            </a:pPr>
            <a:r>
              <a:rPr sz="2000" dirty="0">
                <a:solidFill>
                  <a:srgbClr val="FF0000"/>
                </a:solidFill>
              </a:rPr>
              <a:t>SUMMER</a:t>
            </a:r>
            <a:r>
              <a:rPr sz="2000" spc="-25" dirty="0">
                <a:solidFill>
                  <a:srgbClr val="FF0000"/>
                </a:solidFill>
              </a:rPr>
              <a:t> </a:t>
            </a:r>
            <a:r>
              <a:rPr sz="2000" dirty="0">
                <a:solidFill>
                  <a:srgbClr val="FF0000"/>
                </a:solidFill>
              </a:rPr>
              <a:t>INTERNSHIP</a:t>
            </a:r>
            <a:r>
              <a:rPr sz="2000" spc="-5" dirty="0">
                <a:solidFill>
                  <a:srgbClr val="FF0000"/>
                </a:solidFill>
              </a:rPr>
              <a:t> </a:t>
            </a:r>
            <a:r>
              <a:rPr sz="2000" dirty="0">
                <a:solidFill>
                  <a:srgbClr val="FF0000"/>
                </a:solidFill>
              </a:rPr>
              <a:t>-</a:t>
            </a:r>
            <a:r>
              <a:rPr sz="2000" spc="-15" dirty="0">
                <a:solidFill>
                  <a:srgbClr val="FF0000"/>
                </a:solidFill>
              </a:rPr>
              <a:t> </a:t>
            </a:r>
            <a:r>
              <a:rPr sz="2000" spc="-20" dirty="0">
                <a:solidFill>
                  <a:srgbClr val="FF0000"/>
                </a:solidFill>
              </a:rPr>
              <a:t>2025</a:t>
            </a:r>
            <a:endParaRPr sz="2000"/>
          </a:p>
        </p:txBody>
      </p:sp>
      <p:sp>
        <p:nvSpPr>
          <p:cNvPr id="3" name="object 3"/>
          <p:cNvSpPr txBox="1">
            <a:spLocks noGrp="1"/>
          </p:cNvSpPr>
          <p:nvPr>
            <p:ph type="body" idx="1"/>
          </p:nvPr>
        </p:nvSpPr>
        <p:spPr>
          <a:xfrm>
            <a:off x="576943" y="1905000"/>
            <a:ext cx="8739505" cy="3291927"/>
          </a:xfrm>
          <a:prstGeom prst="rect">
            <a:avLst/>
          </a:prstGeom>
        </p:spPr>
        <p:txBody>
          <a:bodyPr vert="horz" wrap="square" lIns="0" tIns="12065" rIns="0" bIns="0" rtlCol="0">
            <a:spAutoFit/>
          </a:bodyPr>
          <a:lstStyle/>
          <a:p>
            <a:pPr marL="12700" algn="just">
              <a:lnSpc>
                <a:spcPct val="150000"/>
              </a:lnSpc>
              <a:spcBef>
                <a:spcPts val="95"/>
              </a:spcBef>
            </a:pPr>
            <a:r>
              <a:rPr lang="en-US" b="0" dirty="0">
                <a:latin typeface="Times New Roman" panose="02020603050405020304" pitchFamily="18" charset="0"/>
                <a:cs typeface="Times New Roman" panose="02020603050405020304" pitchFamily="18" charset="0"/>
              </a:rPr>
              <a:t>The Google AI-ML Virtual Internship was a comprehensive learning journey that effectively bridged the gap between theoretical knowledge and practical application in the field of artificial intelligence. Through invaluable mentorship and exposure, we benefited from the guidance of experienced industry professionals while working with cutting-edge tools in an immersive, real-world development environment. The program facilitated end-to-end skill development, enhancing understanding of the complete machine learning workflow, including data preprocessing, exploratory analysis, model training, deployment, and monitoring. Moreover, the virtual format fostered critical professional skills such as self-directed learning, digital collaboration, and analytical thinking, all of which are essential for thriving in today’s dynamic and distributed work environments.</a:t>
            </a:r>
          </a:p>
        </p:txBody>
      </p:sp>
      <p:sp>
        <p:nvSpPr>
          <p:cNvPr id="4" name="object 3">
            <a:extLst>
              <a:ext uri="{FF2B5EF4-FFF2-40B4-BE49-F238E27FC236}">
                <a16:creationId xmlns:a16="http://schemas.microsoft.com/office/drawing/2014/main" id="{F7A2906D-DB9A-41AF-BB66-3DB50264BB49}"/>
              </a:ext>
            </a:extLst>
          </p:cNvPr>
          <p:cNvSpPr txBox="1"/>
          <p:nvPr/>
        </p:nvSpPr>
        <p:spPr>
          <a:xfrm>
            <a:off x="576942" y="1184040"/>
            <a:ext cx="8739505" cy="289182"/>
          </a:xfrm>
          <a:prstGeom prst="rect">
            <a:avLst/>
          </a:prstGeom>
        </p:spPr>
        <p:txBody>
          <a:bodyPr vert="horz" wrap="square" lIns="0" tIns="12065" rIns="0" bIns="0" rtlCol="0">
            <a:spAutoFit/>
          </a:bodyPr>
          <a:lstStyle/>
          <a:p>
            <a:pPr marL="30480">
              <a:lnSpc>
                <a:spcPct val="100000"/>
              </a:lnSpc>
              <a:spcBef>
                <a:spcPts val="95"/>
              </a:spcBef>
            </a:pPr>
            <a:r>
              <a:rPr lang="en-US" b="1" spc="-10" dirty="0">
                <a:latin typeface="Times New Roman" panose="02020603050405020304" pitchFamily="18" charset="0"/>
                <a:cs typeface="Times New Roman" panose="02020603050405020304" pitchFamily="18" charset="0"/>
              </a:rPr>
              <a:t>Conclusion</a:t>
            </a:r>
            <a:endParaRPr lang="en-US"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565</TotalTime>
  <Words>968</Words>
  <Application>Microsoft Office PowerPoint</Application>
  <PresentationFormat>Widescreen</PresentationFormat>
  <Paragraphs>114</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Times New Roman</vt:lpstr>
      <vt:lpstr>Office Theme</vt:lpstr>
      <vt:lpstr>PowerPoint Presentation</vt:lpstr>
      <vt:lpstr>MIT School of Computing SUMMER INTERNSHIP - 2025</vt:lpstr>
      <vt:lpstr>MIT School of Computing SUMMER INTERNSHIP - 2025</vt:lpstr>
      <vt:lpstr>MIT School of Computing SUMMER INTERNSHIP - 2025</vt:lpstr>
      <vt:lpstr>PowerPoint Presentation</vt:lpstr>
      <vt:lpstr>MIT School of Computing SUMMER INTERNSHIP - 2025</vt:lpstr>
      <vt:lpstr>MIT School of Computing SUMMER INTERNSHIP - 2025</vt:lpstr>
      <vt:lpstr>MIT School of Computing SUMMER INTERNSHIP - 2025</vt:lpstr>
      <vt:lpstr>MIT School of Computing SUMMER INTERNSHIP - 2025</vt:lpstr>
      <vt:lpstr>MIT School of Computing SUMMER INTERNSHIP - 2025</vt:lpstr>
      <vt:lpstr>MIT School of Computing SUMMER INTERNSHIP - 2025</vt:lpstr>
      <vt:lpstr>MIT School of Computing SUMMER INTERNSHIP - 2025</vt:lpstr>
      <vt:lpstr>MIT School of Computing SUMMER INTERNSHIP - 2025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39</cp:revision>
  <dcterms:created xsi:type="dcterms:W3CDTF">2025-07-22T05:12:34Z</dcterms:created>
  <dcterms:modified xsi:type="dcterms:W3CDTF">2025-09-18T15:16:49Z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2025-07-08T00:00:00Z</vt:filetime>
  </property>
  <property fmtid="{D5CDD505-2E9C-101B-9397-08002B2CF9AE}" pid="3" name="Creator">
    <vt:lpwstr>Microsoft® PowerPoint® 2021</vt:lpwstr>
  </property>
  <property fmtid="{D5CDD505-2E9C-101B-9397-08002B2CF9AE}" pid="4" name="LastSaved">
    <vt:filetime>2025-07-22T00:00:00Z</vt:filetime>
  </property>
  <property fmtid="{D5CDD505-2E9C-101B-9397-08002B2CF9AE}" pid="5" name="Producer">
    <vt:lpwstr>Microsoft® PowerPoint® 2021</vt:lpwstr>
  </property>
</Properties>
</file>